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embeddedFontLst>
    <p:embeddedFont>
      <p:font typeface="IBM Plex Mono" panose="020B0509050203000203" pitchFamily="49" charset="77"/>
      <p:regular r:id="rId17"/>
      <p:bold r:id="rId18"/>
      <p:italic r:id="rId19"/>
      <p:boldItalic r:id="rId20"/>
    </p:embeddedFont>
    <p:embeddedFont>
      <p:font typeface="IBM Plex Sans" panose="020B0503050203000203" pitchFamily="34" charset="0"/>
      <p:regular r:id="rId21"/>
      <p:bold r:id="rId22"/>
      <p:italic r:id="rId23"/>
      <p:boldItalic r:id="rId24"/>
    </p:embeddedFont>
    <p:embeddedFont>
      <p:font typeface="Source Serif 4" panose="020406030504050202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6271"/>
  </p:normalViewPr>
  <p:slideViewPr>
    <p:cSldViewPr snapToGrid="0">
      <p:cViewPr varScale="1">
        <p:scale>
          <a:sx n="81" d="100"/>
          <a:sy n="81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" name="Google Shape;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3" name="Google Shape;30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7" name="Google Shape;31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952500" y="2376488"/>
            <a:ext cx="14716125" cy="205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4442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7800"/>
              <a:buFont typeface="Source Serif 4"/>
              <a:buNone/>
            </a:pPr>
            <a:r>
              <a:rPr lang="en-US" sz="78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Академиялық адалдық Generative AI дәуірінде</a:t>
            </a:r>
            <a:endParaRPr sz="7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500" y="4778276"/>
            <a:ext cx="11772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C9D6E2"/>
              </a:buClr>
              <a:buSzPts val="3000"/>
              <a:buFont typeface="IBM Plex Sans"/>
              <a:buNone/>
            </a:pPr>
            <a:r>
              <a:rPr lang="en-US" sz="3000" b="0" i="0" u="none" strike="noStrike" cap="none">
                <a:solidFill>
                  <a:srgbClr val="C9D6E2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Тыйымнан — айқын ережеге: рұқсат матрицасы, декларация формасы, силлабус мәтіні</a:t>
            </a:r>
            <a:endParaRPr sz="30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52500" y="8329613"/>
            <a:ext cx="16383000" cy="9525"/>
          </a:xfrm>
          <a:prstGeom prst="rect">
            <a:avLst/>
          </a:prstGeom>
          <a:solidFill>
            <a:srgbClr val="F8F9FA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52500" y="8933921"/>
            <a:ext cx="522729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r>
              <a:rPr lang="en-US" sz="280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Дәрібаев Бейімбет Серікұлы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952500" y="914400"/>
            <a:ext cx="1536700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ЖОСПАР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02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Бүгінгі 45 минут қалай өтеді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52500" y="3048000"/>
            <a:ext cx="112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10 мин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228850" y="2986088"/>
            <a:ext cx="684790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Диагноз: детекторлар неге сенімді дәлел емес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410700" y="3048000"/>
            <a:ext cx="112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8 мин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687050" y="2986088"/>
            <a:ext cx="698366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Ауысу: өнімді тексеруден процесті құруға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52500" y="4162425"/>
            <a:ext cx="112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11 мин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228850" y="4100513"/>
            <a:ext cx="684790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Құрал: AI пайдалану матрицасы + практикум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410700" y="4162425"/>
            <a:ext cx="112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9 мин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687050" y="4100513"/>
            <a:ext cx="684790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Құжаттар: декларация формасы, силлабус мәтіні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52500" y="5276850"/>
            <a:ext cx="112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100"/>
              <a:buFont typeface="IBM Plex Mono"/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7 мин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228850" y="5214938"/>
            <a:ext cx="684790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Дау шешу алгоритмі және 30/60/90 жол картасы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27115" y="8929688"/>
            <a:ext cx="11734391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Бүгін кетер алдында сізде қандай нақты құжат болса, жұмысыңыз жеңілдейді?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952500" y="914400"/>
            <a:ext cx="13730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ДИАГНОЗ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03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Жаңа шындық: құрал бұғаттаудан тыс жерде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52500" y="3100388"/>
            <a:ext cx="561594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2964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8400"/>
              <a:buFont typeface="Source Serif 4"/>
              <a:buNone/>
            </a:pPr>
            <a:r>
              <a:rPr lang="en-US" sz="84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3 сек</a:t>
            </a:r>
            <a:endParaRPr sz="8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952500" y="4319588"/>
            <a:ext cx="5258562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Эссені генерациялауға кететін уақыт — телефоннан, тіркеусіз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591300" y="3100388"/>
            <a:ext cx="561594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2964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8400"/>
              <a:buFont typeface="Source Serif 4"/>
              <a:buNone/>
            </a:pPr>
            <a:r>
              <a:rPr lang="en-US" sz="84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0 ₸</a:t>
            </a:r>
            <a:endParaRPr sz="8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591300" y="4319588"/>
            <a:ext cx="5258562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Тегін нұсқалардың кампус желісінен тыс қолжетімділігі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2230100" y="3100388"/>
            <a:ext cx="561594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2964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8400"/>
              <a:buFont typeface="Source Serif 4"/>
              <a:buNone/>
            </a:pPr>
            <a:r>
              <a:rPr lang="en-US" sz="84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?</a:t>
            </a:r>
            <a:endParaRPr sz="8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2230100" y="4319588"/>
            <a:ext cx="5258562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Тапсырмаңыздың қанша пайызын AI бүгін орындай алады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27115" y="8929688"/>
            <a:ext cx="13038512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Өз пәніңізден бір тапсырманы еске алыңыз: оны AI сағат ішінде «үштікке» орындай ма?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952500" y="914400"/>
            <a:ext cx="13730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ДИАГНОЗ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04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Бұзылу деген не: анықтама ауысты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52500" y="2986088"/>
            <a:ext cx="16383000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134475" y="3005138"/>
            <a:ext cx="9525" cy="2025848"/>
          </a:xfrm>
          <a:prstGeom prst="rect">
            <a:avLst/>
          </a:prstGeom>
          <a:solidFill>
            <a:srgbClr val="0A254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52500" y="3309938"/>
            <a:ext cx="8581073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БҰРЫН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52500" y="3819525"/>
            <a:ext cx="8035004" cy="9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6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Бөтен мәтінді көшіру · Ұқсастық пайызы · Дәйексөзсіз дереккөз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9144000" y="3005138"/>
            <a:ext cx="8191500" cy="2025848"/>
          </a:xfrm>
          <a:prstGeom prst="rect">
            <a:avLst/>
          </a:prstGeom>
          <a:solidFill>
            <a:srgbClr val="F59E0B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525000" y="3309938"/>
            <a:ext cx="859155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8A5A00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БҮГІН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525000" y="3819525"/>
            <a:ext cx="8044815" cy="9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6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Көмекті жасыру · Авторлықты иемдену · Тексерілмеген мазмұнға жауапсыздық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52500" y="5488186"/>
            <a:ext cx="14716125" cy="112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5333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300"/>
              <a:buFont typeface="Source Serif 4"/>
              <a:buNone/>
            </a:pPr>
            <a:r>
              <a:rPr lang="en-US" sz="33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Бұзушылық — AI қолдану емес. Бұзушылық — оны жасыру және өз ойы ретінде көрсету.</a:t>
            </a:r>
            <a:endParaRPr sz="33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227115" y="8929688"/>
            <a:ext cx="10374935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Студент AI-мен жоспар құрып, мәтінді өзі жазса — бұл бұзушылық па?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952500" y="914400"/>
            <a:ext cx="2157546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ДЕТЕКТОРЛАР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05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AI-детектор нені шынымен өлшейді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952500" y="3024188"/>
            <a:ext cx="5181600" cy="2428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276350" y="3348038"/>
            <a:ext cx="49872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01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276350" y="3800475"/>
            <a:ext cx="498729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Болжамдылық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276350" y="4357688"/>
            <a:ext cx="466991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Келесі сөз қаншалықты «күтілген» — perplexity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553200" y="3024188"/>
            <a:ext cx="5181600" cy="2428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877050" y="3348038"/>
            <a:ext cx="49872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02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877050" y="3800475"/>
            <a:ext cx="498729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Біркелкілік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877050" y="4357688"/>
            <a:ext cx="466991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Сөйлем ырғағының өзгермеуі — burstiness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2153900" y="3024188"/>
            <a:ext cx="5181600" cy="2428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2477750" y="3348038"/>
            <a:ext cx="49872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03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2477750" y="3800475"/>
            <a:ext cx="498729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Ықтималдық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2477750" y="4357688"/>
            <a:ext cx="466991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Нәтиже — пайыз, иә/жоқ жауабы емес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52500" y="5872163"/>
            <a:ext cx="16383000" cy="970583"/>
          </a:xfrm>
          <a:prstGeom prst="rect">
            <a:avLst/>
          </a:prstGeom>
          <a:solidFill>
            <a:srgbClr val="F59E0B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57300" y="6138863"/>
            <a:ext cx="16264890" cy="4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14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Салдары: </a:t>
            </a:r>
            <a:r>
              <a:rPr lang="en-US" sz="2550" b="0" i="0" u="none" strike="noStrike" cap="none">
                <a:solidFill>
                  <a:srgbClr val="0A2540"/>
                </a:solidFill>
                <a:highlight>
                  <a:srgbClr val="FDEED3"/>
                </a:highlight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қарапайым, таза, шаблонды тіл — «AI» деп белгіленеді. Авторлық тексерілмейді.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227115" y="8929688"/>
            <a:ext cx="9973270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Сіздің пәніңізде «тым таза жазылған» жұмыс — норма ма, күдік пе?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952500" y="914400"/>
            <a:ext cx="2157546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ДЕТЕКТОРЛАР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06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Жалған дабылдың нақты мысалдары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952500" y="3370883"/>
            <a:ext cx="5702871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952500" y="2909888"/>
            <a:ext cx="5873957" cy="34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ЖАҒДАЙ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036371" y="3370883"/>
            <a:ext cx="4959028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7036371" y="2909888"/>
            <a:ext cx="5107798" cy="34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НӘТИЖЕ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2376398" y="3370883"/>
            <a:ext cx="4959028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2376398" y="2909888"/>
            <a:ext cx="5107798" cy="34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САБАҚ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952500" y="4618658"/>
            <a:ext cx="5702871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52500" y="3618533"/>
            <a:ext cx="587395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GPTZero-ға АҚШ Тәуелсіздік декларациясының мәтіні берілді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7036371" y="4618658"/>
            <a:ext cx="4959028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7036371" y="3618533"/>
            <a:ext cx="510779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Жоғары «AI» ықтималдығы — 1776 жылғы құжатқа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2376398" y="4618658"/>
            <a:ext cx="4959028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2376398" y="3618533"/>
            <a:ext cx="510779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8A5A0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Формалды стиль — AI белгісі емес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52500" y="5856908"/>
            <a:ext cx="5702871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952500" y="4856783"/>
            <a:ext cx="587395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Turnitin: 300 сөзден қысқа немесе редакцияланған мәтін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7036371" y="5856908"/>
            <a:ext cx="4959028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7036371" y="4856783"/>
            <a:ext cx="510779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Сөйлем деңгейінде қате жоғары; вендор өзі шектеуін мойындайды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2376398" y="5856908"/>
            <a:ext cx="4959028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2376398" y="4856783"/>
            <a:ext cx="510779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8A5A0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Пайыз — үкім емес, сигнал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952500" y="6095033"/>
            <a:ext cx="587395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OpenAI өзінің AI Classifier құралы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036371" y="6095033"/>
            <a:ext cx="510779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Дәлдігі төмен болғандықтан жабылды (2023)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2376398" y="6095033"/>
            <a:ext cx="510779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8A5A0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Модель авторы да «100% анықтауды» ұсынбайды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227115" y="8929688"/>
            <a:ext cx="11209533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Детектор 78% көрсетті. Сіз бұл студентке қандай сөйлеммен хабарлайсыз?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952500" y="914400"/>
            <a:ext cx="2157546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ДЕТЕКТОРЛАР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07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Қате айыптау бірдей бөлінбейді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952500" y="3024188"/>
            <a:ext cx="6940280" cy="139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9175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1250"/>
              <a:buFont typeface="Source Serif 4"/>
              <a:buNone/>
            </a:pPr>
            <a:r>
              <a:rPr lang="en-US" sz="1125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61%</a:t>
            </a:r>
            <a:endParaRPr sz="11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952500" y="4552950"/>
            <a:ext cx="649862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Ана тілі емес тілде жазылған эсселердің AI деп белгіленуі (Stanford, 2023)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7871445" y="4108103"/>
            <a:ext cx="9464055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7871445" y="3024188"/>
            <a:ext cx="9747977" cy="91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14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Шет тілінде жазатын студент — қарапайым лексика, тұрақты синтаксис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871445" y="5012010"/>
            <a:ext cx="9464055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871445" y="4365278"/>
            <a:ext cx="9747977" cy="4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14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Grammarly, аудармашы, редактор қолданған адал жұмыс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7871445" y="5915918"/>
            <a:ext cx="9464055" cy="9525"/>
          </a:xfrm>
          <a:prstGeom prst="rect">
            <a:avLst/>
          </a:prstGeom>
          <a:solidFill>
            <a:srgbClr val="0A2540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7871445" y="5269185"/>
            <a:ext cx="9747977" cy="4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14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Техникалық және заң мәтіндері — қатаң шаблонды жанр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871445" y="6173093"/>
            <a:ext cx="10410460" cy="4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314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550"/>
              <a:buFont typeface="IBM Plex Sans"/>
              <a:buNone/>
            </a:pPr>
            <a:r>
              <a:rPr lang="en-US" sz="25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Нейроерекшелігі бар студенттердің біркелкі жазу мәнері</a:t>
            </a:r>
            <a:endParaRPr sz="25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227115" y="8929688"/>
            <a:ext cx="7260007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Тобыңызда бұл топқа кіретін қанша студент бар?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952500" y="914400"/>
            <a:ext cx="13730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ҰСТАНЫМ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F59E0B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08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952500" y="1843088"/>
            <a:ext cx="14225588" cy="163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385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5700"/>
              <a:buFont typeface="Source Serif 4"/>
              <a:buNone/>
            </a:pPr>
            <a:r>
              <a:rPr lang="en-US" sz="57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Детектор көрсеткіші — тәртіптік іс үшін дәлел бола алмайды</a:t>
            </a:r>
            <a:endParaRPr sz="5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952500" y="4121348"/>
            <a:ext cx="567176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ЕРЕЖЕ 1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952500" y="4593729"/>
            <a:ext cx="5293130" cy="84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Пайыз — әңгіме бастау себебі, айып емес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565850" y="4121348"/>
            <a:ext cx="5671847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ЕРЕЖЕ 2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565850" y="4593729"/>
            <a:ext cx="5118299" cy="84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Шешім процесс дәлеліне негізделеді: нобай, ауызша қорғау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2179275" y="4121348"/>
            <a:ext cx="567176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ЕРЕЖЕ 3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2179275" y="4593729"/>
            <a:ext cx="5236948" cy="84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Дәлелдеу міндеті — университетте, студентте емес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F8F9FA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227115" y="8929688"/>
            <a:ext cx="11817392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250"/>
              <a:buFont typeface="IBM Plex Sans"/>
              <a:buNone/>
            </a:pPr>
            <a:r>
              <a:rPr lang="en-US" sz="2250" b="0" i="0" u="none" strike="noStrike" cap="none" dirty="0" err="1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Бұл</a:t>
            </a:r>
            <a:r>
              <a:rPr lang="en-US" sz="2250" b="0" i="0" u="none" strike="noStrike" cap="none" dirty="0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ережеге</a:t>
            </a:r>
            <a:r>
              <a:rPr lang="en-US" sz="2250" b="0" i="0" u="none" strike="noStrike" cap="none" dirty="0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кім</a:t>
            </a:r>
            <a:r>
              <a:rPr lang="en-US" sz="2250" b="0" i="0" u="none" strike="noStrike" cap="none" dirty="0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қарсы</a:t>
            </a:r>
            <a:r>
              <a:rPr lang="en-US" sz="2250" b="0" i="0" u="none" strike="noStrike" cap="none" dirty="0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? </a:t>
            </a:r>
            <a:endParaRPr sz="22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952500" y="914400"/>
            <a:ext cx="96775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ШЕШІМ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09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Өнімді тексеруден — процесті құруға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952500" y="3457575"/>
            <a:ext cx="7924800" cy="19050"/>
          </a:xfrm>
          <a:prstGeom prst="rect">
            <a:avLst/>
          </a:prstGeom>
          <a:solidFill>
            <a:srgbClr val="0A254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952500" y="2986088"/>
            <a:ext cx="81625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ЖҰМЫС ІСТЕМЕЙДІ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952500" y="3705225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Тек дайын файлды бағалау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952500" y="4326210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Детектор пайызына сүйену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952500" y="4947196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AI-ға толық тыйым салу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952500" y="5568181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Барлық курсқа бір ереже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9410700" y="3457575"/>
            <a:ext cx="792480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9410700" y="2986088"/>
            <a:ext cx="81625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ЖҰМЫС ІСТЕЙДІ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9410700" y="3705225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Кезеңдік тапсыру: жоспар → нобай → нұсқа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410700" y="4326210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5 минуттық ауызша қорғау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9410700" y="4947196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Жергілікті дерек, кейс, өз тәжірибесі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9410700" y="5568181"/>
            <a:ext cx="8717280" cy="4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Тапсырма деңгейінде жазылған AI ережесі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227115" y="8929688"/>
            <a:ext cx="8331577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Оң бағаннан қайсысын келесі семестрде енгізе аласыз?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952500" y="914400"/>
            <a:ext cx="13730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ҚҰРАЛ 1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F59E0B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10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952500" y="16144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AI пайдалану матрицасы: 4 деңгей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952500" y="2909888"/>
            <a:ext cx="3867150" cy="3486894"/>
          </a:xfrm>
          <a:prstGeom prst="rect">
            <a:avLst/>
          </a:prstGeom>
          <a:solidFill>
            <a:srgbClr val="F8F9FA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238250" y="3195638"/>
            <a:ext cx="362521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ДЕҢГЕЙ 0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238250" y="3648075"/>
            <a:ext cx="362521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700"/>
              <a:buFont typeface="IBM Plex Sans"/>
              <a:buNone/>
            </a:pPr>
            <a:r>
              <a:rPr lang="en-US" sz="27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AI-FREE</a:t>
            </a:r>
            <a:endParaRPr sz="2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238250" y="4229100"/>
            <a:ext cx="3394519" cy="111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Қолдануға болмайды: бақыланатын жазба, емтихан, ауызша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238250" y="5442496"/>
            <a:ext cx="3394519" cy="70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50"/>
              <a:buFont typeface="IBM Plex Sans"/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Талап: аудитория, уақыт шегі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5124450" y="2909888"/>
            <a:ext cx="3867150" cy="3486894"/>
          </a:xfrm>
          <a:prstGeom prst="rect">
            <a:avLst/>
          </a:prstGeom>
          <a:solidFill>
            <a:srgbClr val="F8F9FA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410200" y="3195638"/>
            <a:ext cx="362521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ДЕҢГЕЙ 1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410200" y="3648075"/>
            <a:ext cx="362521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700"/>
              <a:buFont typeface="IBM Plex Sans"/>
              <a:buNone/>
            </a:pPr>
            <a:r>
              <a:rPr lang="en-US" sz="27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КӨМЕКШІ</a:t>
            </a:r>
            <a:endParaRPr sz="2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10200" y="4229100"/>
            <a:ext cx="3394519" cy="111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Идея, жоспар, грамматика. Мәтін мен ой — студенттің өзінің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10200" y="5442496"/>
            <a:ext cx="3394519" cy="70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Sans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Талап: бір жолды декларация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9296400" y="2909888"/>
            <a:ext cx="3867150" cy="3486894"/>
          </a:xfrm>
          <a:prstGeom prst="rect">
            <a:avLst/>
          </a:prstGeom>
          <a:solidFill>
            <a:srgbClr val="F8F9FA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9582150" y="3195638"/>
            <a:ext cx="362521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ДЕҢГЕЙ 2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9582150" y="3648075"/>
            <a:ext cx="362521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700"/>
              <a:buFont typeface="IBM Plex Sans"/>
              <a:buNone/>
            </a:pPr>
            <a:r>
              <a:rPr lang="en-US" sz="27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СЕРІКТЕС</a:t>
            </a:r>
            <a:endParaRPr sz="2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9582150" y="4229100"/>
            <a:ext cx="3394519" cy="111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Нобай, код, аударма, есептеу — AI-мен бірге жасалады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582150" y="5442496"/>
            <a:ext cx="3394519" cy="70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Sans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Талап: форма + промпт журналы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3468350" y="2909888"/>
            <a:ext cx="3867150" cy="3486894"/>
          </a:xfrm>
          <a:prstGeom prst="rect">
            <a:avLst/>
          </a:prstGeom>
          <a:solidFill>
            <a:srgbClr val="F8F9FA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3754100" y="3195638"/>
            <a:ext cx="362521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ДЕҢГЕЙ 3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3754100" y="3648075"/>
            <a:ext cx="362521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700"/>
              <a:buFont typeface="IBM Plex Sans"/>
              <a:buNone/>
            </a:pPr>
            <a:r>
              <a:rPr lang="en-US" sz="2700" b="1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ЕРКІН</a:t>
            </a:r>
            <a:endParaRPr sz="2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3754100" y="4229100"/>
            <a:ext cx="3394519" cy="111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AI шығысы — бағалау объектісі: қатесін табу, жақсарту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3754100" y="5776764"/>
            <a:ext cx="362521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50"/>
              <a:buFont typeface="IBM Plex Sans"/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Талап: сын-талдау есебі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F8F9FA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227115" y="8929688"/>
            <a:ext cx="12922277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F8F9FA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Деңгей курсқа емес, тапсырмаға қойылады. Сіздің курсыңызда қанша деңгей болады?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/>
        </p:nvSpPr>
        <p:spPr>
          <a:xfrm>
            <a:off x="952500" y="914400"/>
            <a:ext cx="5295803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ПРАКТИКУМ · КАФЕДРА БОЙЫНША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11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952500" y="15763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Матрицаны өз пәніңізге толтырыңыз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952500" y="2566988"/>
            <a:ext cx="18021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Ұяшықты басып, тікелей жазуға болады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952500" y="3645173"/>
            <a:ext cx="3828529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952500" y="3214688"/>
            <a:ext cx="3943385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ТАПСЫРМА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009629" y="3645173"/>
            <a:ext cx="3828604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5009629" y="3214688"/>
            <a:ext cx="3943462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ДЕҢГЕЙ 0–3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9066833" y="3645173"/>
            <a:ext cx="3828604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9066833" y="3214688"/>
            <a:ext cx="3943462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НЕ РҰҚСАТ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3124036" y="3645173"/>
            <a:ext cx="4211464" cy="1905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3124036" y="3214688"/>
            <a:ext cx="4337808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ҚАЛАЙ ТЕКСЕРЕМІН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952500" y="3816623"/>
            <a:ext cx="3828529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162050" y="4026173"/>
            <a:ext cx="352428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Эссе / реферат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009629" y="3816623"/>
            <a:ext cx="382860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219179" y="4026173"/>
            <a:ext cx="352436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1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9066833" y="3816623"/>
            <a:ext cx="382860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9276383" y="4026173"/>
            <a:ext cx="352436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Жоспар, дереккөз іздеу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3124036" y="3816623"/>
            <a:ext cx="421146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3333586" y="4026173"/>
            <a:ext cx="3918708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Нобай + 5 мин ауызша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952500" y="5302523"/>
            <a:ext cx="3828529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162050" y="5512073"/>
            <a:ext cx="352428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Зертханалық / есеп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009629" y="5302523"/>
            <a:ext cx="382860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219179" y="5512073"/>
            <a:ext cx="352436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2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9066833" y="5302523"/>
            <a:ext cx="382860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9276383" y="5512073"/>
            <a:ext cx="352436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Код, есептеу, визуал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3124036" y="5302523"/>
            <a:ext cx="421146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3333586" y="5512073"/>
            <a:ext cx="3918708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Промпт журналы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952500" y="6788423"/>
            <a:ext cx="3828529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162050" y="6997973"/>
            <a:ext cx="352428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Емтихан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009629" y="6788423"/>
            <a:ext cx="382860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219179" y="6997973"/>
            <a:ext cx="352436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0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9066833" y="6788423"/>
            <a:ext cx="382860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9276383" y="6997973"/>
            <a:ext cx="352436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—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13124036" y="6788423"/>
            <a:ext cx="4211464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3333586" y="6997973"/>
            <a:ext cx="3918708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Аудиторияда, құрылғысыз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227115" y="8929688"/>
            <a:ext cx="10480856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Ең қиын ұяшық қайсы болды — «не рұқсат» па, «қалай тексеремін» бе?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952500" y="914400"/>
            <a:ext cx="13730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ҚҰРАЛ 2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12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952500" y="15763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AI Declaration Form — дайын шаблон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952500" y="2757488"/>
            <a:ext cx="8805267" cy="6124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314450" y="3081338"/>
            <a:ext cx="8889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AI ҚОЛДАНУ ТУРАЛЫ МӘЛІМДЕМЕ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1314450" y="3595688"/>
            <a:ext cx="8081367" cy="9525"/>
          </a:xfrm>
          <a:prstGeom prst="rect">
            <a:avLst/>
          </a:prstGeom>
          <a:solidFill>
            <a:srgbClr val="0A254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1314450" y="381476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1. Пән, тапсырма, күні: ______________________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1314450" y="436721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2. Рұқсат етілген деңгей (0–3): ______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314450" y="491966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3. Қолданылған құрал және нұсқасы: ______________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1314450" y="5472113"/>
            <a:ext cx="832380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4. Нақты не үшін қолдандым: жоспар / нобай / аударма / код / редакция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314450" y="642461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5. Промпттар журналы қосылды: ☐ иә ☐ жоқ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314450" y="697706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6. Нені өзім тексердім және түзеттім: ______________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1314450" y="752951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7. Дереккөздер мен фактілерді растадым: ☐ иә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314450" y="8158163"/>
            <a:ext cx="8889504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Қолы / күні: ____________________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0291167" y="2757488"/>
            <a:ext cx="7044333" cy="1614488"/>
          </a:xfrm>
          <a:prstGeom prst="rect">
            <a:avLst/>
          </a:prstGeom>
          <a:solidFill>
            <a:srgbClr val="F59E0B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10538817" y="2986088"/>
            <a:ext cx="6760363" cy="119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Ереже: </a:t>
            </a:r>
            <a:r>
              <a:rPr lang="en-US" sz="2250" b="0" i="0" u="none" strike="noStrike" cap="none">
                <a:solidFill>
                  <a:srgbClr val="0A2540"/>
                </a:solidFill>
                <a:highlight>
                  <a:srgbClr val="FDEED3"/>
                </a:highlight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декларация жоқ = тапсырма қабылданбайды. Жалған декларация = тәртіптік іс.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0291167" y="4619625"/>
            <a:ext cx="774876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Толтыру уақыты — 2 минут, бір бет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10291167" y="5253038"/>
            <a:ext cx="774876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Тапсырманың соңғы беті ретінде тіркеледі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0291167" y="5886450"/>
            <a:ext cx="725566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195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Деңгей 0-де форма да қажет емес — тек аудиториялық бақылау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952500" y="8882063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238250" y="9167813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3227115" y="9110663"/>
            <a:ext cx="9404948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Формадан қандай жолды алып тастар едіңіз — қайсысы артық?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/>
          <p:nvPr/>
        </p:nvSpPr>
        <p:spPr>
          <a:xfrm>
            <a:off x="952500" y="914400"/>
            <a:ext cx="1373044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ҚҰРАЛ 3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13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952500" y="15763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Силлабусқа арналған дайын мәтін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952500" y="2757488"/>
            <a:ext cx="15697200" cy="405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371600" y="3138488"/>
            <a:ext cx="16344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«ГЕНЕРАТИВТІ AI ҚОЛДАНУ» БӨЛІМІ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1371600" y="3690937"/>
            <a:ext cx="1530477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Бұл курста генеративті AI құралдарын қолдану </a:t>
            </a:r>
            <a:r>
              <a:rPr lang="en-US" sz="24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тапсырма деңгейінде </a:t>
            </a:r>
            <a:r>
              <a:rPr lang="en-US" sz="24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реттеледі. Әр тапсырманың сипаттамасында 0–3 деңгейі көрсетілген. 1-деңгейден жоғары жағдайда студент AI қолдану туралы мәлімдемені (AI Declaration Form) жұмысқа қоса тіркейді. Декларациясыз жұмыс тексерілмейді. Мазмұнның, дереккөздің және фактілердің дұрыстығына жауапкершілік толығымен студентте қалады. AI-детектор көрсеткіші өз бетінше бұзушылық дәлелі болып саналмайды: күдік туған жағдайда оқытушы жұмыс процесін (нобайлар, нұсқалар, ауызша қорғау) талап етеді.</a:t>
            </a:r>
            <a:endParaRPr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227115" y="8929688"/>
            <a:ext cx="8890077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Осы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мәтінді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өз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силлабусыңызға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қоса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аласыз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 </a:t>
            </a:r>
            <a:r>
              <a:rPr lang="en-US" sz="2250" b="0" i="0" u="none" strike="noStrike" cap="none" dirty="0" err="1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ба</a:t>
            </a:r>
            <a:r>
              <a:rPr lang="en-US" sz="2250" b="0" i="0" u="none" strike="noStrike" cap="none" dirty="0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?</a:t>
            </a:r>
            <a:endParaRPr sz="22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>
            <a:off x="952500" y="914400"/>
            <a:ext cx="176529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ПРОЦЕДУРА</a:t>
            </a:r>
            <a:endParaRPr sz="19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5552390" y="914400"/>
            <a:ext cx="1961421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1950"/>
              <a:buFont typeface="IBM Plex Mono"/>
              <a:buNone/>
            </a:pPr>
            <a:r>
              <a:rPr lang="en-US" sz="1950" b="0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14</a:t>
            </a:r>
            <a:endParaRPr sz="195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952500" y="1652588"/>
            <a:ext cx="180213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800"/>
              <a:buFont typeface="Source Serif 4"/>
              <a:buNone/>
            </a:pPr>
            <a:r>
              <a:rPr lang="en-US" sz="4800" b="1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Күдік туғанда: 5 қадам</a:t>
            </a:r>
            <a:endParaRPr sz="4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952500" y="3100388"/>
            <a:ext cx="336949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3077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5700"/>
              <a:buFont typeface="Source Serif 4"/>
              <a:buNone/>
            </a:pPr>
            <a:r>
              <a:rPr lang="en-US" sz="57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1</a:t>
            </a:r>
            <a:endParaRPr sz="5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952500" y="3976687"/>
            <a:ext cx="3155076" cy="75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Айыптамай, сұхбат: «процесті көрсетіңіз»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282380" y="3100388"/>
            <a:ext cx="336958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3077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5700"/>
              <a:buFont typeface="Source Serif 4"/>
              <a:buNone/>
            </a:pPr>
            <a:r>
              <a:rPr lang="en-US" sz="57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2</a:t>
            </a:r>
            <a:endParaRPr sz="5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282380" y="3976687"/>
            <a:ext cx="3155153" cy="75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Процесс дәлелі: нобай, версиялар, дереккөз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7612335" y="3100388"/>
            <a:ext cx="336958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3077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5700"/>
              <a:buFont typeface="Source Serif 4"/>
              <a:buNone/>
            </a:pPr>
            <a:r>
              <a:rPr lang="en-US" sz="57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3</a:t>
            </a:r>
            <a:endParaRPr sz="5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7612335" y="3976687"/>
            <a:ext cx="3155153" cy="75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10 минуттық ауызша қорғау, хаттамамен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10942290" y="3100388"/>
            <a:ext cx="336958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3077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5700"/>
              <a:buFont typeface="Source Serif 4"/>
              <a:buNone/>
            </a:pPr>
            <a:r>
              <a:rPr lang="en-US" sz="57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4</a:t>
            </a:r>
            <a:endParaRPr sz="5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10942290" y="3976687"/>
            <a:ext cx="3155153" cy="75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Шешім: қайта тапсыру немесе комиссия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14272245" y="3100388"/>
            <a:ext cx="336958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3077"/>
              </a:lnSpc>
              <a:spcBef>
                <a:spcPts val="0"/>
              </a:spcBef>
              <a:spcAft>
                <a:spcPts val="0"/>
              </a:spcAft>
              <a:buClr>
                <a:srgbClr val="005088"/>
              </a:buClr>
              <a:buSzPts val="5700"/>
              <a:buFont typeface="Source Serif 4"/>
              <a:buNone/>
            </a:pPr>
            <a:r>
              <a:rPr lang="en-US" sz="5700" b="1" i="0" u="none" strike="noStrike" cap="none">
                <a:solidFill>
                  <a:srgbClr val="005088"/>
                </a:solidFill>
                <a:latin typeface="Arial" panose="020B0604020202020204" pitchFamily="34" charset="0"/>
                <a:ea typeface="Source Serif 4"/>
                <a:cs typeface="Arial" panose="020B0604020202020204" pitchFamily="34" charset="0"/>
                <a:sym typeface="Source Serif 4"/>
              </a:rPr>
              <a:t>5</a:t>
            </a:r>
            <a:endParaRPr sz="57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14272245" y="3976687"/>
            <a:ext cx="3155153" cy="75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100"/>
              <a:buFont typeface="IBM Plex Sans"/>
              <a:buNone/>
            </a:pPr>
            <a:r>
              <a:rPr lang="en-US" sz="210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Тіркеу: кейс базасы, апелляция құқығы</a:t>
            </a:r>
            <a:endParaRPr sz="21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952500" y="8701088"/>
            <a:ext cx="16383000" cy="823913"/>
          </a:xfrm>
          <a:prstGeom prst="rect">
            <a:avLst/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1238250" y="8986838"/>
            <a:ext cx="1936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B58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0A7B58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ЗАЛҒА СҰРАҚ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227115" y="8929688"/>
            <a:ext cx="10827923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50"/>
              <a:buFont typeface="IBM Plex Sans"/>
              <a:buNone/>
            </a:pPr>
            <a:r>
              <a:rPr lang="en-US" sz="2250" b="0" i="0" u="none" strike="noStrike" cap="none">
                <a:solidFill>
                  <a:srgbClr val="0A2540"/>
                </a:solidFill>
                <a:latin typeface="Arial" panose="020B0604020202020204" pitchFamily="34" charset="0"/>
                <a:ea typeface="IBM Plex Sans"/>
                <a:cs typeface="Arial" panose="020B0604020202020204" pitchFamily="34" charset="0"/>
                <a:sym typeface="IBM Plex Sans"/>
              </a:rPr>
              <a:t>Бұл алгоритмді кім жүргізеді: оқытушы, кафедра меңгерушісі, комиссия?</a:t>
            </a:r>
            <a:endParaRPr sz="225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1009</Words>
  <Application>Microsoft Macintosh PowerPoint</Application>
  <PresentationFormat>Custom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IBM Plex Sans</vt:lpstr>
      <vt:lpstr>IBM Plex Mono</vt:lpstr>
      <vt:lpstr>Source Serif 4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Beimbet Daribayev</cp:lastModifiedBy>
  <cp:revision>27</cp:revision>
  <dcterms:modified xsi:type="dcterms:W3CDTF">2026-08-26T03:14:04Z</dcterms:modified>
</cp:coreProperties>
</file>