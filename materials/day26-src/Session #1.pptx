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6271"/>
  </p:normalViewPr>
  <p:slideViewPr>
    <p:cSldViewPr snapToGrid="0" snapToObjects="1">
      <p:cViewPr varScale="1">
        <p:scale>
          <a:sx n="81" d="100"/>
          <a:sy n="81" d="100"/>
        </p:scale>
        <p:origin x="2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7136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52500" y="3736181"/>
            <a:ext cx="1487805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189"/>
              </a:lnSpc>
              <a:buNone/>
            </a:pPr>
            <a:r>
              <a:rPr lang="en-US" sz="8400" b="1" dirty="0">
                <a:solidFill>
                  <a:srgbClr val="F3F0DF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Ethics First</a:t>
            </a:r>
            <a:endParaRPr lang="en-US" sz="8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52500" y="5107781"/>
            <a:ext cx="13931265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7843"/>
              </a:lnSpc>
              <a:buNone/>
            </a:pPr>
            <a:r>
              <a:rPr lang="en-US" sz="3300" dirty="0">
                <a:solidFill>
                  <a:srgbClr val="F3F0DF">
                    <a:alpha val="86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Жоғары білім беруде жасанды интеллектіні пайдаланудың этикалық нормалары</a:t>
            </a:r>
            <a:endParaRPr lang="en-US" sz="3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52500" y="8491538"/>
            <a:ext cx="16383000" cy="19050"/>
          </a:xfrm>
          <a:prstGeom prst="rect">
            <a:avLst/>
          </a:prstGeom>
          <a:solidFill>
            <a:srgbClr val="F3F0DF">
              <a:alpha val="25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52500" y="9172575"/>
            <a:ext cx="472600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n-US" sz="2400" b="1" dirty="0">
                <a:solidFill>
                  <a:srgbClr val="F8F9F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Дәрібаев Бейімбет Серікұлы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996753"/>
            <a:ext cx="16383000" cy="19050"/>
          </a:xfrm>
          <a:prstGeom prst="rect">
            <a:avLst/>
          </a:prstGeom>
          <a:solidFill>
            <a:srgbClr val="0A2540">
              <a:alpha val="15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1418481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005088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02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52500" y="1152525"/>
            <a:ext cx="14184816" cy="6346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634"/>
              </a:lnSpc>
              <a:buNone/>
            </a:pPr>
            <a:r>
              <a:rPr lang="en-US" sz="4350" b="1" dirty="0">
                <a:solidFill>
                  <a:srgbClr val="0A2540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Жасанды интеллект дәуіріндегі университет</a:t>
            </a:r>
            <a:endParaRPr lang="en-US" sz="4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2500" y="2396803"/>
            <a:ext cx="87172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10B98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ТЕОРИЯЛЫҚ НЕГІЗ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9140" y="2887340"/>
            <a:ext cx="8214360" cy="2141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6757"/>
              </a:lnSpc>
            </a:pPr>
            <a:r>
              <a:rPr lang="en-US" sz="240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AI – құрал емес, институционалдық инфрақұрылым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16757"/>
              </a:lnSpc>
              <a:buNone/>
            </a:pPr>
            <a:r>
              <a:rPr lang="en-US" sz="240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Үш деңгей: оқыту · зерттеу · басқару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16757"/>
              </a:lnSpc>
              <a:buNone/>
            </a:pPr>
            <a:r>
              <a:rPr lang="en-US" sz="240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Технология мен реттеу арасындағы алшақтық – тәуекел көзі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410700" y="2396803"/>
            <a:ext cx="7924800" cy="588518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753600" y="2739703"/>
            <a:ext cx="79629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59E0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ПРАКТИКАЛЫҚ КЕЙС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753600" y="3192140"/>
            <a:ext cx="745617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>
              <a:lnSpc>
                <a:spcPct val="121739"/>
              </a:lnSpc>
            </a:pPr>
            <a:r>
              <a:rPr lang="en-US" sz="225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Студент эссені генеративті </a:t>
            </a:r>
            <a:r>
              <a:rPr lang="kk-KZ" sz="225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ЖИ</a:t>
            </a:r>
            <a:r>
              <a:rPr lang="en-US" sz="225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арқылы дайындайды, оқытушы оны </a:t>
            </a:r>
            <a:r>
              <a:rPr lang="kk-KZ" sz="225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ЖИ</a:t>
            </a:r>
            <a:r>
              <a:rPr lang="en-US" sz="225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-</a:t>
            </a:r>
            <a:r>
              <a:rPr lang="en-US" sz="2250" dirty="0" err="1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детектормен</a:t>
            </a:r>
            <a:r>
              <a:rPr lang="en-US" sz="225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тексереді. Екі тарап та ережесіз әрекет етеді </a:t>
            </a:r>
            <a:r>
              <a:rPr lang="en-US" sz="200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–</a:t>
            </a:r>
            <a:r>
              <a:rPr lang="en-US" sz="225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kk-KZ" sz="225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себебі </a:t>
            </a:r>
            <a:r>
              <a:rPr lang="en-US" sz="225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университеттің саясаты жоқ.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753600" y="4582790"/>
            <a:ext cx="79629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05088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Нәтиже: шешім жеке пікірге тәуелді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52500" y="8662988"/>
            <a:ext cx="16383000" cy="862013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95400" y="8946356"/>
            <a:ext cx="76200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0B98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СҰРАҚ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247900" y="8910638"/>
            <a:ext cx="11854473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Сіздің кафедрада </a:t>
            </a:r>
            <a:r>
              <a:rPr lang="kk-KZ" sz="225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ЖИ</a:t>
            </a:r>
            <a:r>
              <a:rPr lang="en-US" sz="225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қолдануға қатысты жазылған ереже бар ма? Қол көтеріңіз.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996753"/>
            <a:ext cx="16383000" cy="19050"/>
          </a:xfrm>
          <a:prstGeom prst="rect">
            <a:avLst/>
          </a:prstGeom>
          <a:solidFill>
            <a:srgbClr val="0A2540">
              <a:alpha val="15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123982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005088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03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52500" y="1152525"/>
            <a:ext cx="12398239" cy="6346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634"/>
              </a:lnSpc>
              <a:buNone/>
            </a:pPr>
            <a:r>
              <a:rPr lang="en-US" sz="4350" b="1" dirty="0">
                <a:solidFill>
                  <a:srgbClr val="0A2540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UNESCO ұсынымдары (2021): төрт тірек</a:t>
            </a:r>
            <a:endParaRPr lang="en-US" sz="4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6440150" y="1358578"/>
            <a:ext cx="76200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3F0DF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3 мин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52500" y="2396803"/>
            <a:ext cx="3895725" cy="588518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57300" y="2701603"/>
            <a:ext cx="361473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10B98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01</a:t>
            </a:r>
            <a:endParaRPr lang="en-US" sz="2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57300" y="3325490"/>
            <a:ext cx="3384709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8696"/>
              </a:lnSpc>
              <a:buNone/>
            </a:pPr>
            <a:r>
              <a:rPr lang="en-US" sz="2250" b="1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Пропорционалдылық және зиян келтірмеу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257300" y="4192265"/>
            <a:ext cx="3384709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dirty="0">
                <a:solidFill>
                  <a:srgbClr val="0A2540">
                    <a:alpha val="75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AI мақсатқа сай ғана қолданылады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114925" y="2396803"/>
            <a:ext cx="3895725" cy="588518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19725" y="2701603"/>
            <a:ext cx="361473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10B98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02</a:t>
            </a:r>
            <a:endParaRPr lang="en-US" sz="2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19725" y="3325490"/>
            <a:ext cx="3384709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8696"/>
              </a:lnSpc>
              <a:buNone/>
            </a:pPr>
            <a:r>
              <a:rPr lang="en-US" sz="2250" b="1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Ашықтық және түсіндірілу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19725" y="4192265"/>
            <a:ext cx="3384709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dirty="0">
                <a:solidFill>
                  <a:srgbClr val="0A2540">
                    <a:alpha val="75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Студент шешімнің негізін білуге тиіс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277350" y="2396803"/>
            <a:ext cx="3895725" cy="588518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582150" y="2701603"/>
            <a:ext cx="361473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10B98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03</a:t>
            </a:r>
            <a:endParaRPr lang="en-US" sz="2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582150" y="3325490"/>
            <a:ext cx="3384709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8696"/>
              </a:lnSpc>
              <a:buNone/>
            </a:pPr>
            <a:r>
              <a:rPr lang="en-US" sz="2250" b="1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Жауапкершілік және қадағалау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582150" y="4192265"/>
            <a:ext cx="3384709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dirty="0">
                <a:solidFill>
                  <a:srgbClr val="0A2540">
                    <a:alpha val="75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Жауапты — адам, алгоритм емес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3439775" y="2396803"/>
            <a:ext cx="3895725" cy="588518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3744575" y="2701603"/>
            <a:ext cx="361473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10B98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04</a:t>
            </a:r>
            <a:endParaRPr lang="en-US" sz="2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3744575" y="3325490"/>
            <a:ext cx="361473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8696"/>
              </a:lnSpc>
              <a:buNone/>
            </a:pPr>
            <a:r>
              <a:rPr lang="en-US" sz="2250" b="1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Әділдік және кемсітпеу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3744575" y="3835078"/>
            <a:ext cx="3384709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dirty="0">
                <a:solidFill>
                  <a:srgbClr val="0A2540">
                    <a:alpha val="75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Қолжетімділік пен деректер сапасы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52500" y="8662988"/>
            <a:ext cx="16383000" cy="862013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295400" y="8946356"/>
            <a:ext cx="76200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0B98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СҰРАҚ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247900" y="8910638"/>
            <a:ext cx="11561839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Осы төрт принциптің қайсысы бізде ең әлсіз орындалады? Бір сөзбен атаңыз.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996753"/>
            <a:ext cx="16383000" cy="19050"/>
          </a:xfrm>
          <a:prstGeom prst="rect">
            <a:avLst/>
          </a:prstGeom>
          <a:solidFill>
            <a:srgbClr val="0A2540">
              <a:alpha val="15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1374607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005088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04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52500" y="1152525"/>
            <a:ext cx="13746071" cy="6346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634"/>
              </a:lnSpc>
              <a:buNone/>
            </a:pPr>
            <a:r>
              <a:rPr lang="en-US" sz="4350" b="1" dirty="0">
                <a:solidFill>
                  <a:srgbClr val="0A2540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Human-in-the-Loop: шешім кімнің қолында?</a:t>
            </a:r>
            <a:endParaRPr lang="en-US" sz="4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52500" y="2396803"/>
            <a:ext cx="5308550" cy="174783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38250" y="2682553"/>
            <a:ext cx="521075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A2540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IN THE LOOP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38250" y="3115940"/>
            <a:ext cx="521075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43"/>
              </a:lnSpc>
              <a:buNone/>
            </a:pPr>
            <a:r>
              <a:rPr lang="en-US" sz="225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Адам әр шешімді бекітеді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89650" y="2396803"/>
            <a:ext cx="5308625" cy="174783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775400" y="2682553"/>
            <a:ext cx="521083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A2540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ON THE LOOP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775400" y="3115940"/>
            <a:ext cx="521083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43"/>
              </a:lnSpc>
              <a:buNone/>
            </a:pPr>
            <a:r>
              <a:rPr lang="en-US" sz="225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Адам бақылап, араласа алады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2026875" y="2396803"/>
            <a:ext cx="5308550" cy="1747838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12625" y="2682553"/>
            <a:ext cx="521075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3F0DF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OUT OF THE LOOP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312625" y="3115940"/>
            <a:ext cx="487916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043"/>
              </a:lnSpc>
              <a:buNone/>
            </a:pPr>
            <a:r>
              <a:rPr lang="en-US" sz="225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Академиялық шешімде рұқсат етілмейді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52500" y="4449440"/>
            <a:ext cx="16383000" cy="19192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295400" y="4792340"/>
            <a:ext cx="1726692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59E0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ПРАКТИКАЛЫҚ КЕЙС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95400" y="5225728"/>
            <a:ext cx="1616811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739"/>
              </a:lnSpc>
              <a:buNone/>
            </a:pPr>
            <a:r>
              <a:rPr lang="en-US" sz="2250" dirty="0" err="1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Аралық</a:t>
            </a:r>
            <a:r>
              <a:rPr lang="en-US" sz="225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2250" dirty="0" err="1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бақылауда</a:t>
            </a:r>
            <a:r>
              <a:rPr lang="kk-KZ" sz="225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ЖИ</a:t>
            </a:r>
            <a:r>
              <a:rPr lang="en-US" sz="225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жүйесі 320 жұмысқа балл ұсынады. Оқытушы бір сағат ішінде барлығын бекітеді — түзету саны нөл. Формальды түрде адам бар, шын мәнінде шешімді алгоритм қабылдады.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52500" y="8662988"/>
            <a:ext cx="16383000" cy="862013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295400" y="8946356"/>
            <a:ext cx="76200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0B98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СҰРАҚ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247900" y="8910638"/>
            <a:ext cx="1248124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Бекітудің формальды болмағанын қалай тексеруге болады? Бір өлшемді ұсыныңыз.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996753"/>
            <a:ext cx="16383000" cy="19050"/>
          </a:xfrm>
          <a:prstGeom prst="rect">
            <a:avLst/>
          </a:prstGeom>
          <a:solidFill>
            <a:srgbClr val="0A2540">
              <a:alpha val="15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151206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005088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05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52500" y="1152525"/>
            <a:ext cx="15120670" cy="6346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634"/>
              </a:lnSpc>
              <a:buNone/>
            </a:pPr>
            <a:r>
              <a:rPr lang="en-US" sz="4350" b="1" dirty="0">
                <a:solidFill>
                  <a:srgbClr val="0A2540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Когнитивті офлоудинг: ойлауды сыртқа шығару</a:t>
            </a:r>
            <a:endParaRPr lang="en-US" sz="4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6440150" y="1358578"/>
            <a:ext cx="76200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3F0DF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3 мин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2500" y="2396803"/>
            <a:ext cx="87172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10B98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ТЕОРИЯЛЫҚ НЕГІЗ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9140" y="2887340"/>
            <a:ext cx="8214360" cy="2552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757"/>
              </a:lnSpc>
              <a:buNone/>
            </a:pPr>
            <a:r>
              <a:rPr lang="en-US" sz="240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Офлоудинг — жүктемені құралға беру, өздігінен зиян емес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16757"/>
              </a:lnSpc>
              <a:buNone/>
            </a:pPr>
            <a:r>
              <a:rPr lang="en-US" sz="240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Зиян оқу мақсаты дағдының өзі болғанда пайда болады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16757"/>
              </a:lnSpc>
              <a:buNone/>
            </a:pPr>
            <a:r>
              <a:rPr lang="en-US" sz="240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Индикатор: студент нәтижесін түсіндіре алмайды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410700" y="2396803"/>
            <a:ext cx="7924800" cy="588518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753600" y="2739703"/>
            <a:ext cx="79629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59E0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ПРАКТИКАЛЫҚ КЕЙС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753600" y="3230240"/>
            <a:ext cx="745617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739"/>
              </a:lnSpc>
              <a:buNone/>
            </a:pPr>
            <a:r>
              <a:rPr lang="en-US" sz="225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Курстық жұмыс мінсіз жазылған, бірақ қорғауда студент өзінің негізгі аргументін қайталай алмайды. Мәтін бар — түсінік жоқ.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753600" y="4658990"/>
            <a:ext cx="7239000" cy="19050"/>
          </a:xfrm>
          <a:prstGeom prst="rect">
            <a:avLst/>
          </a:prstGeom>
          <a:solidFill>
            <a:srgbClr val="0A2540">
              <a:alpha val="12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753600" y="4868540"/>
            <a:ext cx="79629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05088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Шешім: процесті бағалау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753600" y="5282878"/>
            <a:ext cx="796290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dirty="0">
                <a:solidFill>
                  <a:srgbClr val="0A2540">
                    <a:alpha val="80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Ауызша қорғау · нобайлар · дереккөз журналы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52500" y="8662988"/>
            <a:ext cx="16383000" cy="862013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95400" y="8946356"/>
            <a:ext cx="76200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0B98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СҰРАҚ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247900" y="8910638"/>
            <a:ext cx="9907213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Өз курсыңызда AI орындай алмайтын тапсырма қандай болар еді?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996753"/>
            <a:ext cx="16383000" cy="19050"/>
          </a:xfrm>
          <a:prstGeom prst="rect">
            <a:avLst/>
          </a:prstGeom>
          <a:solidFill>
            <a:srgbClr val="0A2540">
              <a:alpha val="15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1173709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005088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06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52500" y="1152525"/>
            <a:ext cx="11737092" cy="6346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634"/>
              </a:lnSpc>
              <a:buNone/>
            </a:pPr>
            <a:r>
              <a:rPr lang="en-US" sz="4350" b="1" dirty="0">
                <a:solidFill>
                  <a:srgbClr val="0A2540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Алгоритмдік bias: деректегі теңсіздік</a:t>
            </a:r>
            <a:endParaRPr lang="en-US" sz="4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2500" y="2396803"/>
            <a:ext cx="87172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10B98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ТЕОРИЯЛЫҚ НЕГІЗ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9140" y="2887340"/>
            <a:ext cx="8214360" cy="2141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757"/>
              </a:lnSpc>
              <a:buNone/>
            </a:pPr>
            <a:r>
              <a:rPr lang="en-US" sz="240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Bias көздері: тарихи деректер, таңдама, метрика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16757"/>
              </a:lnSpc>
              <a:buNone/>
            </a:pPr>
            <a:r>
              <a:rPr lang="en-US" sz="240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Тілдік теңсіздік: қазақ тіліндегі корпус ағылшыннан әлдеқайда аз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16757"/>
              </a:lnSpc>
              <a:buNone/>
            </a:pPr>
            <a:r>
              <a:rPr lang="en-US" sz="240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Жою мүмкін емес — өлшеу және шектеу қажет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410700" y="2396803"/>
            <a:ext cx="7924800" cy="588518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753600" y="2739703"/>
            <a:ext cx="79629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59E0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ИНТЕРАКТИВ: ТЕКСЕРІП КӨРІҢІЗ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753600" y="3211190"/>
            <a:ext cx="745617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739"/>
              </a:lnSpc>
              <a:buNone/>
            </a:pPr>
            <a:r>
              <a:rPr lang="en-US" sz="225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Қабылдау комиссиясының AI-жүйесі «үздік мектеп» белгісін модель факторы ретінде қолданады. Bias қай жерде?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753600" y="4620890"/>
            <a:ext cx="3208065" cy="623888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972179" y="4773290"/>
            <a:ext cx="277090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F3F0DF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Жауапты ашу / жабу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52500" y="8662988"/>
            <a:ext cx="16383000" cy="862013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95400" y="8946356"/>
            <a:ext cx="76200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0B98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СҰРАҚ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247900" y="8910638"/>
            <a:ext cx="11470407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Біздің процестерде осындай «жасырын прокси» факторлар қайда кездеседі?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996753"/>
            <a:ext cx="16383000" cy="19050"/>
          </a:xfrm>
          <a:prstGeom prst="rect">
            <a:avLst/>
          </a:prstGeom>
          <a:solidFill>
            <a:srgbClr val="F3F0DF">
              <a:alpha val="25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152355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10B98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07 · КЕЙС №1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52500" y="1152525"/>
            <a:ext cx="15235595" cy="6346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634"/>
              </a:lnSpc>
              <a:buNone/>
            </a:pPr>
            <a:r>
              <a:rPr lang="en-US" sz="4350" b="1" dirty="0">
                <a:solidFill>
                  <a:srgbClr val="F3F0DF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Емтихан прокторингі және жанама кемсітушілік</a:t>
            </a:r>
            <a:endParaRPr lang="en-US" sz="4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6230600" y="1263328"/>
            <a:ext cx="1104900" cy="48577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6440150" y="1358578"/>
            <a:ext cx="76200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A2540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4 мин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2500" y="3408834"/>
            <a:ext cx="950972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10B98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ЖАҒДАЙ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52500" y="3899371"/>
            <a:ext cx="8904559" cy="1851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051"/>
              </a:lnSpc>
              <a:buNone/>
            </a:pPr>
            <a:r>
              <a:rPr lang="en-US" sz="255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Онлайн емтиханда жүйе 46 студентті «күдікті» деп белгіледі. Тексеру нәтижесінде 9 жағдай ғана дәлелденді. Қалған белгілер — нашар байланыс, бөлмедегі шу, техникалық үзіліс.</a:t>
            </a:r>
            <a:endParaRPr lang="en-US" sz="2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52500" y="5941293"/>
            <a:ext cx="8645203" cy="19050"/>
          </a:xfrm>
          <a:prstGeom prst="rect">
            <a:avLst/>
          </a:prstGeom>
          <a:solidFill>
            <a:srgbClr val="F3F0DF">
              <a:alpha val="25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52500" y="6188943"/>
            <a:ext cx="253891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805"/>
              </a:lnSpc>
              <a:buNone/>
            </a:pPr>
            <a:r>
              <a:rPr lang="en-US" sz="5400" dirty="0">
                <a:solidFill>
                  <a:srgbClr val="F59E0B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46</a:t>
            </a:r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52500" y="6950943"/>
            <a:ext cx="253891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3F0DF">
                    <a:alpha val="80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белгіленген жағдай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794001" y="6188943"/>
            <a:ext cx="267348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805"/>
              </a:lnSpc>
              <a:buNone/>
            </a:pPr>
            <a:r>
              <a:rPr lang="en-US" sz="5400" dirty="0">
                <a:solidFill>
                  <a:srgbClr val="10B981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9</a:t>
            </a:r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794001" y="6950943"/>
            <a:ext cx="267348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3F0DF">
                    <a:alpha val="80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дәлелденген жағдай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131103" y="3408834"/>
            <a:ext cx="7204397" cy="2561183"/>
          </a:xfrm>
          <a:prstGeom prst="rect">
            <a:avLst/>
          </a:prstGeom>
          <a:solidFill>
            <a:srgbClr val="F3F0DF">
              <a:alpha val="8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474003" y="3751734"/>
            <a:ext cx="717045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59E0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ЭТИКАЛЫҚ ШЕШІМ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287313" y="4204171"/>
            <a:ext cx="6781487" cy="1461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Күдік ұпайы — дәлел емес, сигнал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Шешімді адам комиссиясы қабылдайды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Студентке шағымдану құқығы кепілдендіріледі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52500" y="8662988"/>
            <a:ext cx="16383000" cy="862013"/>
          </a:xfrm>
          <a:prstGeom prst="rect">
            <a:avLst/>
          </a:prstGeom>
          <a:solidFill>
            <a:srgbClr val="F3F0DF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95400" y="8946356"/>
            <a:ext cx="117351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5088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ТАЛҚЫЛАУ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659410" y="8910638"/>
            <a:ext cx="11453708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Жалған позитивтің қолайлы шегі қандай? Кім бұл шекараны белгілеуі керек?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996753"/>
            <a:ext cx="16383000" cy="19050"/>
          </a:xfrm>
          <a:prstGeom prst="rect">
            <a:avLst/>
          </a:prstGeom>
          <a:solidFill>
            <a:srgbClr val="0A2540">
              <a:alpha val="15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1209013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005088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08 · КЕЙС №2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52500" y="1152525"/>
            <a:ext cx="12090135" cy="6346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634"/>
              </a:lnSpc>
              <a:buNone/>
            </a:pPr>
            <a:r>
              <a:rPr lang="en-US" sz="4350" b="1" dirty="0">
                <a:solidFill>
                  <a:srgbClr val="0A2540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AI-детектор көрсеткіші дәлел бола ма?</a:t>
            </a:r>
            <a:endParaRPr lang="en-US" sz="4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6440150" y="1358578"/>
            <a:ext cx="76200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3F0DF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3 мин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52500" y="2396803"/>
            <a:ext cx="16383000" cy="286122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52500" y="3149278"/>
            <a:ext cx="5460950" cy="19050"/>
          </a:xfrm>
          <a:prstGeom prst="rect">
            <a:avLst/>
          </a:prstGeom>
          <a:solidFill>
            <a:srgbClr val="0A2540">
              <a:alpha val="12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19200" y="2625403"/>
            <a:ext cx="509137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005088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ЖАҒДАЙ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13450" y="3149278"/>
            <a:ext cx="5461025" cy="19050"/>
          </a:xfrm>
          <a:prstGeom prst="rect">
            <a:avLst/>
          </a:prstGeom>
          <a:solidFill>
            <a:srgbClr val="0A2540">
              <a:alpha val="12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680150" y="2625403"/>
            <a:ext cx="509145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005088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ҚАУІП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1874475" y="3149278"/>
            <a:ext cx="5460950" cy="19050"/>
          </a:xfrm>
          <a:prstGeom prst="rect">
            <a:avLst/>
          </a:prstGeom>
          <a:solidFill>
            <a:srgbClr val="0A2540">
              <a:alpha val="12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141175" y="2625403"/>
            <a:ext cx="509137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005088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ДҰРЫС ӘРЕКЕТ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52500" y="4023643"/>
            <a:ext cx="5460950" cy="19050"/>
          </a:xfrm>
          <a:prstGeom prst="rect">
            <a:avLst/>
          </a:prstGeom>
          <a:solidFill>
            <a:srgbClr val="0A2540">
              <a:alpha val="8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19200" y="3415978"/>
            <a:ext cx="5091379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Детектор 78% AI көрсетті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13450" y="4023643"/>
            <a:ext cx="5461025" cy="19050"/>
          </a:xfrm>
          <a:prstGeom prst="rect">
            <a:avLst/>
          </a:prstGeom>
          <a:solidFill>
            <a:srgbClr val="0A2540">
              <a:alpha val="8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680150" y="3415978"/>
            <a:ext cx="5091456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Ықтималдық дәлел деп қабылданады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1874475" y="4023643"/>
            <a:ext cx="5460950" cy="19050"/>
          </a:xfrm>
          <a:prstGeom prst="rect">
            <a:avLst/>
          </a:prstGeom>
          <a:solidFill>
            <a:srgbClr val="0A2540">
              <a:alpha val="8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2141175" y="3415978"/>
            <a:ext cx="5091379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Студентпен әңгіме, процесс дәлелдері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219200" y="4290343"/>
            <a:ext cx="5091379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Мәтін қазақ тілінде жазылған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680150" y="4290343"/>
            <a:ext cx="5091456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Аз ресурсты тілде қателік үлесі жоғары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2141175" y="4290343"/>
            <a:ext cx="5091379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Детекторды жалғыз негіз ретінде қолданбау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52500" y="5524723"/>
            <a:ext cx="1571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39"/>
              </a:lnSpc>
              <a:buNone/>
            </a:pPr>
            <a:r>
              <a:rPr lang="en-US" sz="225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Университет ұстанымы: детектор — тексеру процесінің басы, тәртіптік шешімнің негізі емес.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52500" y="8662988"/>
            <a:ext cx="16383000" cy="862013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295400" y="8946356"/>
            <a:ext cx="76200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0B98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СҰРАҚ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247900" y="8910638"/>
            <a:ext cx="824702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Студентпен әңгімеде қандай үш сұрақ шешуші болады?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996753"/>
            <a:ext cx="16383000" cy="19050"/>
          </a:xfrm>
          <a:prstGeom prst="rect">
            <a:avLst/>
          </a:prstGeom>
          <a:solidFill>
            <a:srgbClr val="0A2540">
              <a:alpha val="15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1653120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005088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09 · КЕЙС №3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52500" y="1152525"/>
            <a:ext cx="16531203" cy="6346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634"/>
              </a:lnSpc>
              <a:buNone/>
            </a:pPr>
            <a:r>
              <a:rPr lang="en-US" sz="4350" b="1" dirty="0">
                <a:solidFill>
                  <a:srgbClr val="0A2540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Ғылыми жарияланымдағы авторлық және ашықтық</a:t>
            </a:r>
            <a:endParaRPr lang="en-US" sz="4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52500" y="2396803"/>
            <a:ext cx="8039100" cy="588518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95400" y="2739703"/>
            <a:ext cx="808863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10B98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РҰҚСАТ ЕТІЛЕДІ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5375" y="3211190"/>
            <a:ext cx="7629525" cy="1576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Тілдік редакциялау және стиль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Әдебиетті іздеуге көмек, кейін тексерумен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Кодты құрылымдау — ашық жарияланғанда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296400" y="2396803"/>
            <a:ext cx="8039100" cy="5885185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639300" y="2739703"/>
            <a:ext cx="808863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F59E0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РҰҚСАТ ЕТІЛМЕЙДІ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439275" y="3211190"/>
            <a:ext cx="7629525" cy="1962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AI-ды автор ретінде көрсету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Дерек немесе дереккөз генерациялау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Рецензияға түскен қолжазбаны сыртқы жүйеге жүктеу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52500" y="8662988"/>
            <a:ext cx="16383000" cy="862013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95400" y="8946356"/>
            <a:ext cx="76200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A2540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СҰРАҚ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247900" y="8910638"/>
            <a:ext cx="1147761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Ашықтық формасы қандай болуы керек: бір абзац па, әлде толық журнал ба?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996753"/>
            <a:ext cx="16383000" cy="19050"/>
          </a:xfrm>
          <a:prstGeom prst="rect">
            <a:avLst/>
          </a:prstGeom>
          <a:solidFill>
            <a:srgbClr val="F3F0DF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89052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ТОПТЫҚ ЖҰМЫС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52525"/>
            <a:ext cx="8905220" cy="6346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634"/>
              </a:lnSpc>
              <a:buNone/>
            </a:pPr>
            <a:r>
              <a:rPr lang="en-US" sz="4350" b="1" dirty="0">
                <a:solidFill>
                  <a:srgbClr val="F3F0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Этикалық дилемманы шешу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16440150" y="1358578"/>
            <a:ext cx="76200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мин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52500" y="2358703"/>
            <a:ext cx="5308550" cy="2103983"/>
          </a:xfrm>
          <a:prstGeom prst="rect">
            <a:avLst/>
          </a:prstGeom>
          <a:solidFill>
            <a:srgbClr val="F3F0D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38250" y="2644453"/>
            <a:ext cx="521075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ТОП A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38250" y="3096890"/>
            <a:ext cx="4879162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F3F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 диплом жұмысын AI көмегімен жазды және ашық көрсетті. Бағалау қалай өзгереді?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489650" y="2358703"/>
            <a:ext cx="5308625" cy="2103983"/>
          </a:xfrm>
          <a:prstGeom prst="rect">
            <a:avLst/>
          </a:prstGeom>
          <a:solidFill>
            <a:srgbClr val="F3F0D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75400" y="2644453"/>
            <a:ext cx="521083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ТОП B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775400" y="3096890"/>
            <a:ext cx="4879239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F3F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Деканат AI арқылы «шығып қалу тәуекелі» тізімін жасады. Тізімді кім көреді?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2026875" y="2358703"/>
            <a:ext cx="5308550" cy="2103983"/>
          </a:xfrm>
          <a:prstGeom prst="rect">
            <a:avLst/>
          </a:prstGeom>
          <a:solidFill>
            <a:srgbClr val="F3F0D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312625" y="2644453"/>
            <a:ext cx="521075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ТОП C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312625" y="3096890"/>
            <a:ext cx="4879162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F3F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Оқытушы студент жұмыстарын коммерциялық чат-ботқа жүктейді. Қандай норма бұзылды?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52500" y="4805586"/>
            <a:ext cx="16383000" cy="4719414"/>
          </a:xfrm>
          <a:prstGeom prst="rect">
            <a:avLst/>
          </a:prstGeom>
          <a:solidFill>
            <a:srgbClr val="F3F0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333500" y="6669956"/>
            <a:ext cx="326898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8511"/>
              </a:lnSpc>
              <a:buNone/>
            </a:pPr>
            <a:r>
              <a:rPr lang="en-US" sz="7800" dirty="0">
                <a:solidFill>
                  <a:srgbClr val="0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06:00</a:t>
            </a:r>
            <a:endParaRPr lang="en-US" sz="7800" dirty="0"/>
          </a:p>
        </p:txBody>
      </p:sp>
      <p:sp>
        <p:nvSpPr>
          <p:cNvPr id="18" name="Shape 16"/>
          <p:cNvSpPr/>
          <p:nvPr/>
        </p:nvSpPr>
        <p:spPr>
          <a:xfrm>
            <a:off x="4762500" y="6834262"/>
            <a:ext cx="1463055" cy="66198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10150" y="7005712"/>
            <a:ext cx="96775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0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БАСТАУ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6377955" y="6834262"/>
            <a:ext cx="1611660" cy="66198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25605" y="7005712"/>
            <a:ext cx="111636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0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ТОҚТАТУ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8142015" y="6834262"/>
            <a:ext cx="1314450" cy="661988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389665" y="7005712"/>
            <a:ext cx="81915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F3F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ҚАЙТА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913665" y="6625233"/>
            <a:ext cx="5101590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минут талқылау · 2 минут таныстыру. Шешімді UNESCO принциптерімен негіздеңіз.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996753"/>
            <a:ext cx="16383000" cy="19050"/>
          </a:xfrm>
          <a:prstGeom prst="rect">
            <a:avLst/>
          </a:prstGeom>
          <a:solidFill>
            <a:srgbClr val="0A2540">
              <a:alpha val="15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1339671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005088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11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52500" y="1152525"/>
            <a:ext cx="13396712" cy="6346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634"/>
              </a:lnSpc>
              <a:buNone/>
            </a:pPr>
            <a:r>
              <a:rPr lang="en-US" sz="4350" b="1" dirty="0">
                <a:solidFill>
                  <a:srgbClr val="0A2540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AI-сауаттылық: оқытушының құзыреттері</a:t>
            </a:r>
            <a:endParaRPr lang="en-US" sz="4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6440150" y="1358578"/>
            <a:ext cx="76200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3F0DF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3 мин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52500" y="2396803"/>
            <a:ext cx="16383000" cy="588518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52500" y="3149278"/>
            <a:ext cx="8191500" cy="19050"/>
          </a:xfrm>
          <a:prstGeom prst="rect">
            <a:avLst/>
          </a:prstGeom>
          <a:solidFill>
            <a:srgbClr val="0A2540">
              <a:alpha val="12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57300" y="2625403"/>
            <a:ext cx="78276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005088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ДЕҢГЕЙ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144000" y="3149278"/>
            <a:ext cx="8191500" cy="19050"/>
          </a:xfrm>
          <a:prstGeom prst="rect">
            <a:avLst/>
          </a:prstGeom>
          <a:solidFill>
            <a:srgbClr val="0A2540">
              <a:alpha val="12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448800" y="2625403"/>
            <a:ext cx="78276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005088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КҮТІЛЕТІН НӘТИЖЕ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52500" y="4087490"/>
            <a:ext cx="8191500" cy="19050"/>
          </a:xfrm>
          <a:prstGeom prst="rect">
            <a:avLst/>
          </a:prstGeom>
          <a:solidFill>
            <a:srgbClr val="0A2540">
              <a:alpha val="8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57300" y="3435028"/>
            <a:ext cx="782764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Базалық сауаттылық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144000" y="4087490"/>
            <a:ext cx="8191500" cy="19050"/>
          </a:xfrm>
          <a:prstGeom prst="rect">
            <a:avLst/>
          </a:prstGeom>
          <a:solidFill>
            <a:srgbClr val="0A2540">
              <a:alpha val="8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448800" y="3435028"/>
            <a:ext cx="782764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Модель қалай жұмыс істейді және неге қателеседі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52500" y="5025703"/>
            <a:ext cx="8191500" cy="19050"/>
          </a:xfrm>
          <a:prstGeom prst="rect">
            <a:avLst/>
          </a:prstGeom>
          <a:solidFill>
            <a:srgbClr val="0A2540">
              <a:alpha val="8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257300" y="4373240"/>
            <a:ext cx="782764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Қолданбалы дағды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144000" y="5025703"/>
            <a:ext cx="8191500" cy="19050"/>
          </a:xfrm>
          <a:prstGeom prst="rect">
            <a:avLst/>
          </a:prstGeom>
          <a:solidFill>
            <a:srgbClr val="0A2540">
              <a:alpha val="8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448800" y="4373240"/>
            <a:ext cx="782764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Тапсырма дизайны, дереккөзді тексеру, деректі қорғау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257300" y="5311453"/>
            <a:ext cx="7827645" cy="423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Этикалық пайымдау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448800" y="5311453"/>
            <a:ext cx="7827645" cy="423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Дилеммада шешім қабылдау және оны негіздеу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52500" y="8662988"/>
            <a:ext cx="16383000" cy="862013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295400" y="8946356"/>
            <a:ext cx="76200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0B98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СҰРАҚ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247900" y="8910638"/>
            <a:ext cx="11105413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Өзіңізді қай деңгейде көресіз? Қандай оқыту форматы пайдалы болар еді?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996753"/>
            <a:ext cx="16383000" cy="19050"/>
          </a:xfrm>
          <a:prstGeom prst="rect">
            <a:avLst/>
          </a:prstGeom>
          <a:solidFill>
            <a:srgbClr val="0A2540">
              <a:alpha val="15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162619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005088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12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52500" y="1152525"/>
            <a:ext cx="16261980" cy="6346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634"/>
              </a:lnSpc>
              <a:buNone/>
            </a:pPr>
            <a:r>
              <a:rPr lang="kk-KZ" sz="4350" b="1" dirty="0" err="1">
                <a:solidFill>
                  <a:srgbClr val="0A2540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Ү</a:t>
            </a:r>
            <a:r>
              <a:rPr lang="en-US" sz="4350" b="1" dirty="0" err="1">
                <a:solidFill>
                  <a:srgbClr val="0A2540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ш</a:t>
            </a:r>
            <a:r>
              <a:rPr lang="en-US" sz="4350" b="1" dirty="0">
                <a:solidFill>
                  <a:srgbClr val="0A2540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 аймақ моделі</a:t>
            </a:r>
            <a:endParaRPr lang="en-US" sz="4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52500" y="2396803"/>
            <a:ext cx="5283175" cy="588518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95400" y="2739703"/>
            <a:ext cx="505711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0A2540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ЖАСЫЛ АЙМАҚ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95400" y="3230240"/>
            <a:ext cx="5057113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828"/>
              </a:lnSpc>
              <a:buNone/>
            </a:pPr>
            <a:r>
              <a:rPr lang="en-US" sz="2850" b="1" dirty="0">
                <a:solidFill>
                  <a:srgbClr val="0A2540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Еркін қолдану</a:t>
            </a:r>
            <a:endParaRPr lang="en-US" sz="2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295400" y="3835971"/>
            <a:ext cx="4735296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Идея жинау, тілдік редакциялау, кодты түсіндіру — ашық көрсетілген жағдайда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502375" y="2396803"/>
            <a:ext cx="5283175" cy="5885185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845275" y="2739703"/>
            <a:ext cx="505711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0A2540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САРЫ АЙМАҚ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45275" y="3230240"/>
            <a:ext cx="5057113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828"/>
              </a:lnSpc>
              <a:buNone/>
            </a:pPr>
            <a:r>
              <a:rPr lang="en-US" sz="2850" b="1" dirty="0">
                <a:solidFill>
                  <a:srgbClr val="0A2540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Шартты рұқсат</a:t>
            </a:r>
            <a:endParaRPr lang="en-US" sz="2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845275" y="3835971"/>
            <a:ext cx="4735296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Курстық және диплом жұмыстары — ашықтық формасы және ауызша қорғау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2052250" y="2396803"/>
            <a:ext cx="5283250" cy="5885185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395150" y="2739703"/>
            <a:ext cx="505719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F59E0B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ҚЫЗЫЛ АЙМАҚ</a:t>
            </a:r>
            <a:endParaRPr lang="en-US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2395150" y="3230240"/>
            <a:ext cx="5057195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828"/>
              </a:lnSpc>
              <a:buNone/>
            </a:pPr>
            <a:r>
              <a:rPr lang="en-US" sz="2850" b="1" dirty="0">
                <a:solidFill>
                  <a:srgbClr val="F3F0DF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Тыйым</a:t>
            </a:r>
            <a:endParaRPr lang="en-US" sz="2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395150" y="3835971"/>
            <a:ext cx="4735373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Бақылау шаралары, жеке деректер, автоматты тәртіптік шешім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52500" y="8662988"/>
            <a:ext cx="16383000" cy="862013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295400" y="8946356"/>
            <a:ext cx="76200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0B98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СҰРАҚ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247900" y="8910638"/>
            <a:ext cx="7967893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Өз пәніңіздің қай тапсырмасы сары аймаққа жатады?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996753"/>
            <a:ext cx="16383000" cy="19050"/>
          </a:xfrm>
          <a:prstGeom prst="rect">
            <a:avLst/>
          </a:prstGeom>
          <a:solidFill>
            <a:srgbClr val="0A2540">
              <a:alpha val="15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1002762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005088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13 · ИНТЕРАКТИВ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52500" y="1152525"/>
            <a:ext cx="10027622" cy="6346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634"/>
              </a:lnSpc>
              <a:buNone/>
            </a:pPr>
            <a:r>
              <a:rPr lang="en-US" sz="4350" b="1" dirty="0">
                <a:solidFill>
                  <a:srgbClr val="0A2540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Жауапты енгізудің жеті қадамы</a:t>
            </a:r>
            <a:endParaRPr lang="en-US" sz="4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52500" y="2358703"/>
            <a:ext cx="8001000" cy="7858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62050" y="2568253"/>
            <a:ext cx="49530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10B98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○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828800" y="2572048"/>
            <a:ext cx="5260524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37"/>
              </a:lnSpc>
              <a:buNone/>
            </a:pPr>
            <a:r>
              <a:rPr lang="en-US" sz="2175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Мақсат анықталды: AI не үшін қажет</a:t>
            </a:r>
            <a:endParaRPr lang="en-US" sz="21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334500" y="2358703"/>
            <a:ext cx="8001000" cy="7858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544050" y="2568253"/>
            <a:ext cx="49530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10B98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○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210800" y="2572048"/>
            <a:ext cx="6126800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37"/>
              </a:lnSpc>
              <a:buNone/>
            </a:pPr>
            <a:r>
              <a:rPr lang="en-US" sz="2175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Деректер: не жиналады, қанша сақталады</a:t>
            </a:r>
            <a:endParaRPr lang="en-US" sz="21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52500" y="3354065"/>
            <a:ext cx="8001000" cy="7858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62050" y="3563615"/>
            <a:ext cx="49530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10B98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○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828800" y="3567410"/>
            <a:ext cx="6170593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37"/>
              </a:lnSpc>
              <a:buNone/>
            </a:pPr>
            <a:r>
              <a:rPr lang="en-US" sz="2175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Шешім иесі көрсетілді (Human-in-the-Loop)</a:t>
            </a:r>
            <a:endParaRPr lang="en-US" sz="21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334500" y="3354065"/>
            <a:ext cx="8001000" cy="7858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544050" y="3563615"/>
            <a:ext cx="49530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10B98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○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210800" y="3567410"/>
            <a:ext cx="5759433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37"/>
              </a:lnSpc>
              <a:buNone/>
            </a:pPr>
            <a:r>
              <a:rPr lang="en-US" sz="2175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Bias тексерілді: топтар бойынша қателік</a:t>
            </a:r>
            <a:endParaRPr lang="en-US" sz="21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52500" y="4349428"/>
            <a:ext cx="8001000" cy="7858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62050" y="4558978"/>
            <a:ext cx="49530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10B98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○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828800" y="4562773"/>
            <a:ext cx="5828437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37"/>
              </a:lnSpc>
              <a:buNone/>
            </a:pPr>
            <a:r>
              <a:rPr lang="en-US" sz="2175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Студент хабардар: силлабуста жазылған</a:t>
            </a:r>
            <a:endParaRPr lang="en-US" sz="21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334500" y="4349428"/>
            <a:ext cx="8001000" cy="7858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544050" y="4558978"/>
            <a:ext cx="49530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10B98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○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210800" y="4562773"/>
            <a:ext cx="5901943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37"/>
              </a:lnSpc>
              <a:buNone/>
            </a:pPr>
            <a:r>
              <a:rPr lang="en-US" sz="2175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Шағымдану жолы ашық және қолжетімді</a:t>
            </a:r>
            <a:endParaRPr lang="en-US" sz="21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52500" y="5344790"/>
            <a:ext cx="8001000" cy="7858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62050" y="5554340"/>
            <a:ext cx="49530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10B98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○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828800" y="5558135"/>
            <a:ext cx="4443197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37"/>
              </a:lnSpc>
              <a:buNone/>
            </a:pPr>
            <a:r>
              <a:rPr lang="en-US" sz="2175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Қайта қарау мерзімі белгіленді</a:t>
            </a:r>
            <a:endParaRPr lang="en-US" sz="21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210800" y="5558135"/>
            <a:ext cx="3832473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37"/>
              </a:lnSpc>
              <a:buNone/>
            </a:pPr>
            <a:r>
              <a:rPr lang="en-US" sz="2175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жеті қадамнан орындалды</a:t>
            </a:r>
            <a:endParaRPr lang="en-US" sz="21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952500" y="8662988"/>
            <a:ext cx="16383000" cy="862013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295400" y="8946356"/>
            <a:ext cx="76200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0B98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СҰРАҚ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2247900" y="8910638"/>
            <a:ext cx="7457688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Қай қадам бізде іс жүзінде ең жиі өткізіліп кетеді?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996753"/>
            <a:ext cx="16383000" cy="19050"/>
          </a:xfrm>
          <a:prstGeom prst="rect">
            <a:avLst/>
          </a:prstGeom>
          <a:solidFill>
            <a:srgbClr val="0A2540">
              <a:alpha val="15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1291720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005088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14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52500" y="1152525"/>
            <a:ext cx="12917202" cy="6346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634"/>
              </a:lnSpc>
              <a:buNone/>
            </a:pPr>
            <a:r>
              <a:rPr lang="en-US" sz="4350" b="1" dirty="0">
                <a:solidFill>
                  <a:srgbClr val="0A2540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Өлшеу және басқару: этика метрикалары</a:t>
            </a:r>
            <a:endParaRPr lang="en-US" sz="4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52500" y="2396803"/>
            <a:ext cx="3895725" cy="588518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57300" y="2701603"/>
            <a:ext cx="3614738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372"/>
              </a:lnSpc>
              <a:buNone/>
            </a:pPr>
            <a:r>
              <a:rPr lang="en-US" sz="5700" dirty="0">
                <a:solidFill>
                  <a:srgbClr val="005088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100%</a:t>
            </a:r>
            <a:endParaRPr lang="en-US" sz="5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57300" y="7257157"/>
            <a:ext cx="3384709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Силлабуста AI ережесі жазылған пәндер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114925" y="2396803"/>
            <a:ext cx="3895725" cy="588518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19725" y="2701603"/>
            <a:ext cx="3614738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372"/>
              </a:lnSpc>
              <a:buNone/>
            </a:pPr>
            <a:r>
              <a:rPr lang="en-US" sz="5700" dirty="0">
                <a:solidFill>
                  <a:srgbClr val="005088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80%</a:t>
            </a:r>
            <a:endParaRPr lang="en-US" sz="5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19725" y="7257157"/>
            <a:ext cx="3384709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AI-сауаттылық курсын өткен оқытушылар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277350" y="2396803"/>
            <a:ext cx="3895725" cy="588518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582150" y="2701603"/>
            <a:ext cx="3614738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372"/>
              </a:lnSpc>
              <a:buNone/>
            </a:pPr>
            <a:r>
              <a:rPr lang="en-US" sz="5700" dirty="0">
                <a:solidFill>
                  <a:srgbClr val="005088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10 күн</a:t>
            </a:r>
            <a:endParaRPr lang="en-US" sz="5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582150" y="7257157"/>
            <a:ext cx="3384709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Шағымды қарау мерзімінің шегі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3439775" y="2396803"/>
            <a:ext cx="3895725" cy="588518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3744575" y="2701603"/>
            <a:ext cx="3614738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372"/>
              </a:lnSpc>
              <a:buNone/>
            </a:pPr>
            <a:r>
              <a:rPr lang="en-US" sz="5700" dirty="0">
                <a:solidFill>
                  <a:srgbClr val="005088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2×</a:t>
            </a:r>
            <a:endParaRPr lang="en-US" sz="5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744575" y="7257157"/>
            <a:ext cx="3384709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Академиялық кеңеске жылдық есеп саны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52500" y="8662988"/>
            <a:ext cx="16383000" cy="862013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295400" y="8946356"/>
            <a:ext cx="76200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0B98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СҰРАҚ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247900" y="8910638"/>
            <a:ext cx="8510104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3F0D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Осы төрт метрикаға сіз бесіншісін қосар едіңіз — қандай?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996753"/>
            <a:ext cx="16383000" cy="19050"/>
          </a:xfrm>
          <a:prstGeom prst="rect">
            <a:avLst/>
          </a:prstGeom>
          <a:solidFill>
            <a:srgbClr val="F3F0DF">
              <a:alpha val="25000"/>
            </a:srgb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996745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10B98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15 · ҚОРЫТЫНДЫ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52500" y="1152525"/>
            <a:ext cx="9967459" cy="6346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634"/>
              </a:lnSpc>
              <a:buNone/>
            </a:pPr>
            <a:r>
              <a:rPr lang="en-US" sz="4350" b="1" dirty="0">
                <a:solidFill>
                  <a:srgbClr val="F3F0DF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Ethics First — мәдениет мәселесі</a:t>
            </a:r>
            <a:endParaRPr lang="en-US" sz="4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6440150" y="1358578"/>
            <a:ext cx="76200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A2540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2 мин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52500" y="4432697"/>
            <a:ext cx="5283175" cy="381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52500" y="4699397"/>
            <a:ext cx="5811493" cy="557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3F0DF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Ашықтық</a:t>
            </a:r>
            <a:endParaRPr lang="en-US" sz="3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52500" y="5351859"/>
            <a:ext cx="5811493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F3F0DF">
                    <a:alpha val="85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Қолдану жасырылмайды, жарияланады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502375" y="4432697"/>
            <a:ext cx="5283175" cy="381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502375" y="4699397"/>
            <a:ext cx="5811493" cy="557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3F0DF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Жауапкершілік</a:t>
            </a:r>
            <a:endParaRPr lang="en-US" sz="3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502375" y="5351859"/>
            <a:ext cx="5811493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F3F0DF">
                    <a:alpha val="85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Шешімге адам жауап береді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2052250" y="4432697"/>
            <a:ext cx="5283250" cy="381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052250" y="4699397"/>
            <a:ext cx="5811575" cy="557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3F0DF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Құзырет</a:t>
            </a:r>
            <a:endParaRPr lang="en-US" sz="3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052250" y="5351859"/>
            <a:ext cx="581157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dirty="0">
                <a:solidFill>
                  <a:srgbClr val="F3F0DF">
                    <a:alpha val="85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Ереже білімге сүйенеді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52500" y="8128695"/>
            <a:ext cx="16383000" cy="1396305"/>
          </a:xfrm>
          <a:prstGeom prst="rect">
            <a:avLst/>
          </a:prstGeom>
          <a:solidFill>
            <a:srgbClr val="F3F0DF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333500" y="8433495"/>
            <a:ext cx="974628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5088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КЕЛЕСІ ҚАДАМ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33500" y="8824020"/>
            <a:ext cx="9746285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2432"/>
              </a:lnSpc>
            </a:pPr>
            <a:r>
              <a:rPr lang="en-US" sz="240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Семестр басына </a:t>
            </a:r>
            <a:r>
              <a:rPr lang="en-US" sz="2400" dirty="0" err="1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дейін</a:t>
            </a:r>
            <a:r>
              <a:rPr lang="en-US" sz="2400" dirty="0">
                <a:solidFill>
                  <a:srgbClr val="0A254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– әр силлабуста AI аймағы көрсетіледі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922</Words>
  <Application>Microsoft Macintosh PowerPoint</Application>
  <PresentationFormat>Custom</PresentationFormat>
  <Paragraphs>206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Beimbet Daribayev</cp:lastModifiedBy>
  <cp:revision>32</cp:revision>
  <dcterms:created xsi:type="dcterms:W3CDTF">2026-08-26T01:33:10Z</dcterms:created>
  <dcterms:modified xsi:type="dcterms:W3CDTF">2026-08-26T03:11:37Z</dcterms:modified>
</cp:coreProperties>
</file>