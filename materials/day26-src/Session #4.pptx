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6271"/>
  </p:normalViewPr>
  <p:slideViewPr>
    <p:cSldViewPr snapToGrid="0" snapToObjects="1">
      <p:cViewPr varScale="1">
        <p:scale>
          <a:sx n="81" d="100"/>
          <a:sy n="81" d="100"/>
        </p:scale>
        <p:origin x="27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0606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1047750" y="2458120"/>
            <a:ext cx="1143000" cy="762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47750" y="2877220"/>
            <a:ext cx="15963243" cy="3128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1274"/>
              </a:lnSpc>
              <a:buNone/>
            </a:pPr>
            <a:r>
              <a:rPr lang="en-US" sz="7800" b="1" dirty="0">
                <a:solidFill>
                  <a:srgbClr val="F3F0DF"/>
                </a:solidFill>
                <a:latin typeface="Arial" panose="020B0604020202020204" pitchFamily="34" charset="0"/>
                <a:ea typeface="Georgia" pitchFamily="34" charset="-122"/>
                <a:cs typeface="Arial" panose="020B0604020202020204" pitchFamily="34" charset="0"/>
              </a:rPr>
              <a:t>AI Policy: университеттің институционалдық қағидалары</a:t>
            </a:r>
            <a:endParaRPr lang="en-US" sz="7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47750" y="6310685"/>
            <a:ext cx="11576685" cy="1051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2299"/>
              </a:lnSpc>
              <a:buNone/>
            </a:pPr>
            <a:r>
              <a:rPr lang="en-US" sz="3300" dirty="0">
                <a:solidFill>
                  <a:srgbClr val="F3F0DF">
                    <a:alpha val="78000"/>
                  </a:srgbClr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Жасанды интеллектті оқу, бағалау, зерттеу және әкімшілік процестерде қолданудың ережелерін бірге жобалаймыз.</a:t>
            </a:r>
            <a:endParaRPr lang="en-US" sz="3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047750" y="8391525"/>
            <a:ext cx="16192500" cy="19050"/>
          </a:xfrm>
          <a:prstGeom prst="rect">
            <a:avLst/>
          </a:prstGeom>
          <a:solidFill>
            <a:srgbClr val="F3F0DF">
              <a:alpha val="22000"/>
            </a:srgbClr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47750" y="9030369"/>
            <a:ext cx="502142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r>
              <a:rPr lang="en-US" sz="2400" b="1" dirty="0">
                <a:solidFill>
                  <a:srgbClr val="F8F9FA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Дәрібаев Бейімбет Серікұлы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0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600200"/>
            <a:ext cx="16192500" cy="19050"/>
          </a:xfrm>
          <a:prstGeom prst="rect">
            <a:avLst/>
          </a:prstGeom>
          <a:solidFill>
            <a:srgbClr val="0A2540">
              <a:alpha val="18000"/>
            </a:srgbClr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47750" y="1009650"/>
            <a:ext cx="197116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273" dirty="0">
                <a:solidFill>
                  <a:srgbClr val="0A2540">
                    <a:alpha val="55000"/>
                  </a:srgbClr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РЕГЛАМЕНТ</a:t>
            </a:r>
            <a:endParaRPr lang="en-US" sz="1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47750" y="2038350"/>
            <a:ext cx="17811750" cy="708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7103"/>
              </a:lnSpc>
              <a:buNone/>
            </a:pPr>
            <a:r>
              <a:rPr lang="en-US" sz="4800" b="1" dirty="0">
                <a:solidFill>
                  <a:srgbClr val="0A2540"/>
                </a:solidFill>
                <a:latin typeface="Arial" panose="020B0604020202020204" pitchFamily="34" charset="0"/>
                <a:ea typeface="Georgia" pitchFamily="34" charset="-122"/>
                <a:cs typeface="Arial" panose="020B0604020202020204" pitchFamily="34" charset="0"/>
              </a:rPr>
              <a:t>Воркшоп картасы және жұмыс ережелері</a:t>
            </a:r>
            <a:endParaRPr 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047750" y="3127995"/>
            <a:ext cx="3055590" cy="4982542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047750" y="3127995"/>
            <a:ext cx="3055590" cy="5715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295400" y="3489945"/>
            <a:ext cx="2816319" cy="600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0A2540"/>
                </a:solidFill>
                <a:latin typeface="Arial" panose="020B0604020202020204" pitchFamily="34" charset="0"/>
                <a:ea typeface="Georgia" pitchFamily="34" charset="-122"/>
                <a:cs typeface="Arial" panose="020B0604020202020204" pitchFamily="34" charset="0"/>
              </a:rPr>
              <a:t>I</a:t>
            </a:r>
            <a:endParaRPr lang="en-US" sz="3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295400" y="4204320"/>
            <a:ext cx="2816319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43"/>
              </a:lnSpc>
              <a:buNone/>
            </a:pPr>
            <a:r>
              <a:rPr lang="en-US" sz="2250" b="1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Негіздер</a:t>
            </a:r>
            <a:endParaRPr lang="en-US" sz="2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295400" y="4728195"/>
            <a:ext cx="2816319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0A2540">
                    <a:alpha val="65000"/>
                  </a:srgbClr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Тәуекел, Russell Group</a:t>
            </a:r>
            <a:endParaRPr lang="en-US" sz="1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295400" y="7519988"/>
            <a:ext cx="281631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7 мин</a:t>
            </a:r>
            <a:endParaRPr lang="en-US" sz="1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331940" y="3127995"/>
            <a:ext cx="3055590" cy="4982542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331940" y="3127995"/>
            <a:ext cx="3055590" cy="5715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579590" y="3489945"/>
            <a:ext cx="2816319" cy="600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0A2540"/>
                </a:solidFill>
                <a:latin typeface="Arial" panose="020B0604020202020204" pitchFamily="34" charset="0"/>
                <a:ea typeface="Georgia" pitchFamily="34" charset="-122"/>
                <a:cs typeface="Arial" panose="020B0604020202020204" pitchFamily="34" charset="0"/>
              </a:rPr>
              <a:t>II</a:t>
            </a:r>
            <a:endParaRPr lang="en-US" sz="3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579590" y="4204320"/>
            <a:ext cx="2816319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43"/>
              </a:lnSpc>
              <a:buNone/>
            </a:pPr>
            <a:r>
              <a:rPr lang="en-US" sz="2250" b="1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Әлемдік тәжірибе</a:t>
            </a:r>
            <a:endParaRPr lang="en-US" sz="2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579590" y="4728195"/>
            <a:ext cx="2637099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0A2540">
                    <a:alpha val="65000"/>
                  </a:srgbClr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Harvard, Stanford, Oxford</a:t>
            </a:r>
            <a:endParaRPr lang="en-US" sz="1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579590" y="7519988"/>
            <a:ext cx="281631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9 мин</a:t>
            </a:r>
            <a:endParaRPr lang="en-US" sz="1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616130" y="3127995"/>
            <a:ext cx="3055665" cy="4982542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616130" y="3127995"/>
            <a:ext cx="3055665" cy="5715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863780" y="3489945"/>
            <a:ext cx="2816401" cy="600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0A2540"/>
                </a:solidFill>
                <a:latin typeface="Arial" panose="020B0604020202020204" pitchFamily="34" charset="0"/>
                <a:ea typeface="Georgia" pitchFamily="34" charset="-122"/>
                <a:cs typeface="Arial" panose="020B0604020202020204" pitchFamily="34" charset="0"/>
              </a:rPr>
              <a:t>III</a:t>
            </a:r>
            <a:endParaRPr lang="en-US" sz="3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863780" y="4204320"/>
            <a:ext cx="281640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43"/>
              </a:lnSpc>
              <a:buNone/>
            </a:pPr>
            <a:r>
              <a:rPr lang="en-US" sz="2250" b="1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Governance</a:t>
            </a:r>
            <a:endParaRPr lang="en-US" sz="2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863780" y="4728195"/>
            <a:ext cx="2816401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0A2540">
                    <a:alpha val="65000"/>
                  </a:srgbClr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Шешім деңгейлері</a:t>
            </a:r>
            <a:endParaRPr lang="en-US" sz="1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863780" y="7519988"/>
            <a:ext cx="281640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6 мин</a:t>
            </a:r>
            <a:endParaRPr lang="en-US" sz="1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10900395" y="3127995"/>
            <a:ext cx="3055590" cy="4982542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10900395" y="3127995"/>
            <a:ext cx="3055590" cy="5715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1148045" y="3489945"/>
            <a:ext cx="2816319" cy="600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F3F0DF"/>
                </a:solidFill>
                <a:latin typeface="Arial" panose="020B0604020202020204" pitchFamily="34" charset="0"/>
                <a:ea typeface="Georgia" pitchFamily="34" charset="-122"/>
                <a:cs typeface="Arial" panose="020B0604020202020204" pitchFamily="34" charset="0"/>
              </a:rPr>
              <a:t>IV</a:t>
            </a:r>
            <a:endParaRPr lang="en-US" sz="3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1148045" y="4204320"/>
            <a:ext cx="2637099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043"/>
              </a:lnSpc>
              <a:buNone/>
            </a:pPr>
            <a:r>
              <a:rPr lang="en-US" sz="2250" b="1" dirty="0">
                <a:solidFill>
                  <a:srgbClr val="F3F0D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Командалық жобалау</a:t>
            </a:r>
            <a:endParaRPr lang="en-US" sz="2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1148045" y="5099670"/>
            <a:ext cx="2637099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3F0DF">
                    <a:alpha val="70000"/>
                  </a:srgbClr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4 блок + дау регламенті</a:t>
            </a:r>
            <a:endParaRPr lang="en-US" sz="1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1148045" y="7519988"/>
            <a:ext cx="281631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3F0D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14 мин</a:t>
            </a:r>
            <a:endParaRPr lang="en-US" sz="1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14184585" y="3127995"/>
            <a:ext cx="3055590" cy="4982542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14184585" y="3127995"/>
            <a:ext cx="3055590" cy="5715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4432235" y="3489945"/>
            <a:ext cx="2816319" cy="600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0A2540"/>
                </a:solidFill>
                <a:latin typeface="Arial" panose="020B0604020202020204" pitchFamily="34" charset="0"/>
                <a:ea typeface="Georgia" pitchFamily="34" charset="-122"/>
                <a:cs typeface="Arial" panose="020B0604020202020204" pitchFamily="34" charset="0"/>
              </a:rPr>
              <a:t>V</a:t>
            </a:r>
            <a:endParaRPr lang="en-US" sz="3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14432235" y="4204320"/>
            <a:ext cx="2816319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43"/>
              </a:lnSpc>
              <a:buNone/>
            </a:pPr>
            <a:r>
              <a:rPr lang="en-US" sz="2250" b="1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Резолюция</a:t>
            </a:r>
            <a:endParaRPr lang="en-US" sz="2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14432235" y="4728195"/>
            <a:ext cx="2637099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0A2540">
                    <a:alpha val="65000"/>
                  </a:srgbClr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Дауыс беру, жол картасы</a:t>
            </a:r>
            <a:endParaRPr lang="en-US" sz="1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14432235" y="7519988"/>
            <a:ext cx="281631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9 мин</a:t>
            </a:r>
            <a:endParaRPr lang="en-US" sz="1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1047750" y="8529638"/>
            <a:ext cx="16192500" cy="957263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1390650" y="8877300"/>
            <a:ext cx="1952580" cy="30003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10B98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ИНТЕРАКТИВ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3470523" y="8815388"/>
            <a:ext cx="13506562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391"/>
              </a:lnSpc>
              <a:buNone/>
            </a:pPr>
            <a:r>
              <a:rPr lang="en-US" sz="2250" dirty="0">
                <a:solidFill>
                  <a:srgbClr val="F3F0D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Командалар атауын таңдап, флипчартқа бір сөйлеммен жазады: «Бізге AI саясаты керек, себебі…»</a:t>
            </a:r>
            <a:endParaRPr lang="en-US" sz="2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0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600200"/>
            <a:ext cx="16192500" cy="19050"/>
          </a:xfrm>
          <a:prstGeom prst="rect">
            <a:avLst/>
          </a:prstGeom>
          <a:solidFill>
            <a:srgbClr val="0A2540">
              <a:alpha val="18000"/>
            </a:srgbClr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47750" y="1009650"/>
            <a:ext cx="308406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273" dirty="0">
                <a:solidFill>
                  <a:srgbClr val="0A2540">
                    <a:alpha val="55000"/>
                  </a:srgbClr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I БЛОК · НЕГІЗДЕР</a:t>
            </a:r>
            <a:endParaRPr lang="en-US" sz="1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47750" y="2000250"/>
            <a:ext cx="17811750" cy="708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7103"/>
              </a:lnSpc>
              <a:buNone/>
            </a:pPr>
            <a:r>
              <a:rPr lang="en-US" sz="4800" b="1" dirty="0">
                <a:solidFill>
                  <a:srgbClr val="0A2540"/>
                </a:solidFill>
                <a:latin typeface="Arial" panose="020B0604020202020204" pitchFamily="34" charset="0"/>
                <a:ea typeface="Georgia" pitchFamily="34" charset="-122"/>
                <a:cs typeface="Arial" panose="020B0604020202020204" pitchFamily="34" charset="0"/>
              </a:rPr>
              <a:t>Саясаттың қажеттілігі: тәуекел мен айқындық</a:t>
            </a:r>
            <a:endParaRPr 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047750" y="3051795"/>
            <a:ext cx="5194250" cy="2543175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352550" y="3413745"/>
            <a:ext cx="5043115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8073"/>
              </a:lnSpc>
              <a:buNone/>
            </a:pPr>
            <a:r>
              <a:rPr lang="en-US" sz="7200" b="1" dirty="0">
                <a:solidFill>
                  <a:srgbClr val="10B981"/>
                </a:solidFill>
                <a:latin typeface="Arial" panose="020B0604020202020204" pitchFamily="34" charset="0"/>
                <a:ea typeface="Georgia" pitchFamily="34" charset="-122"/>
                <a:cs typeface="Arial" panose="020B0604020202020204" pitchFamily="34" charset="0"/>
              </a:rPr>
              <a:t>4</a:t>
            </a:r>
            <a:endParaRPr lang="en-US" sz="7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352550" y="4461495"/>
            <a:ext cx="4722190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391"/>
              </a:lnSpc>
              <a:buNone/>
            </a:pPr>
            <a:r>
              <a:rPr lang="en-US" sz="2250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реттелмеген аймақ: оқу, бағалау, зерттеу, деректер</a:t>
            </a:r>
            <a:endParaRPr lang="en-US" sz="2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546800" y="3051795"/>
            <a:ext cx="5194325" cy="2543175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851600" y="3413745"/>
            <a:ext cx="5043197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8073"/>
              </a:lnSpc>
              <a:buNone/>
            </a:pPr>
            <a:r>
              <a:rPr lang="en-US" sz="7200" b="1" dirty="0">
                <a:solidFill>
                  <a:srgbClr val="10B981"/>
                </a:solidFill>
                <a:latin typeface="Arial" panose="020B0604020202020204" pitchFamily="34" charset="0"/>
                <a:ea typeface="Georgia" pitchFamily="34" charset="-122"/>
                <a:cs typeface="Arial" panose="020B0604020202020204" pitchFamily="34" charset="0"/>
              </a:rPr>
              <a:t>0</a:t>
            </a:r>
            <a:endParaRPr lang="en-US" sz="7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851600" y="4461495"/>
            <a:ext cx="4722267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391"/>
              </a:lnSpc>
              <a:buNone/>
            </a:pPr>
            <a:r>
              <a:rPr lang="en-US" sz="2250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бүгінгі күндегі бірыңғай институционалдық ереже</a:t>
            </a:r>
            <a:endParaRPr lang="en-US" sz="2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2045925" y="3051795"/>
            <a:ext cx="5194250" cy="2543175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350725" y="3413745"/>
            <a:ext cx="5043115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8073"/>
              </a:lnSpc>
              <a:buNone/>
            </a:pPr>
            <a:r>
              <a:rPr lang="en-US" sz="7200" b="1" dirty="0">
                <a:solidFill>
                  <a:srgbClr val="10B981"/>
                </a:solidFill>
                <a:latin typeface="Arial" panose="020B0604020202020204" pitchFamily="34" charset="0"/>
                <a:ea typeface="Georgia" pitchFamily="34" charset="-122"/>
                <a:cs typeface="Arial" panose="020B0604020202020204" pitchFamily="34" charset="0"/>
              </a:rPr>
              <a:t>90</a:t>
            </a:r>
            <a:endParaRPr lang="en-US" sz="7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2350725" y="4461495"/>
            <a:ext cx="4722190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391"/>
              </a:lnSpc>
              <a:buNone/>
            </a:pPr>
            <a:r>
              <a:rPr lang="en-US" sz="2250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күн — саясатты бекітіп, енгізуге нақты мерзім</a:t>
            </a:r>
            <a:endParaRPr lang="en-US" sz="2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047750" y="5975970"/>
            <a:ext cx="861250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0A2540">
                    <a:alpha val="55000"/>
                  </a:srgbClr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ТЕОРИЯЛЫҚ ФРЕЙМВОРК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047750" y="6428408"/>
            <a:ext cx="8064437" cy="1398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051"/>
              </a:lnSpc>
              <a:buNone/>
            </a:pPr>
            <a:r>
              <a:rPr lang="en-US" sz="2550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Саясат — тәуекелді басқару құралы: белгісіздікті нормаға айналдырады және жауапкершілікті нақты рөлдерге бөледі.</a:t>
            </a:r>
            <a:endParaRPr lang="en-US" sz="25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9410700" y="5975970"/>
            <a:ext cx="861250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0A2540">
                    <a:alpha val="55000"/>
                  </a:srgbClr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ПРАКТИКАЛЫҚ АСПЕКТ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410700" y="6428408"/>
            <a:ext cx="8064437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051"/>
              </a:lnSpc>
              <a:buNone/>
            </a:pPr>
            <a:r>
              <a:rPr lang="en-US" sz="2550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Тыйым мен толық еркіндіктің арасында үшінші жол: рұқсат етілген қолдану аймақтарын жазып бекіту.</a:t>
            </a:r>
            <a:endParaRPr lang="en-US" sz="25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1047750" y="8169399"/>
            <a:ext cx="16192500" cy="1343025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390650" y="8709943"/>
            <a:ext cx="1952580" cy="30003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10B98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ИНТЕРАКТИВ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470523" y="8455149"/>
            <a:ext cx="13829632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391"/>
              </a:lnSpc>
              <a:buNone/>
            </a:pPr>
            <a:r>
              <a:rPr lang="en-US" sz="2250" dirty="0">
                <a:solidFill>
                  <a:srgbClr val="F3F0D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Әр команда 60 секундта өз бөлімшесіндегі бір нақты AI тәуекелін атайды. Модератор оларды төрт блокқа бөледі.</a:t>
            </a:r>
            <a:endParaRPr lang="en-US" sz="2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600200"/>
            <a:ext cx="16192500" cy="19050"/>
          </a:xfrm>
          <a:prstGeom prst="rect">
            <a:avLst/>
          </a:prstGeom>
          <a:solidFill>
            <a:srgbClr val="F3F0DF">
              <a:alpha val="22000"/>
            </a:srgbClr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47750" y="1009650"/>
            <a:ext cx="308406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273" dirty="0">
                <a:solidFill>
                  <a:srgbClr val="F3F0DF">
                    <a:alpha val="60000"/>
                  </a:srgbClr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I БЛОК · НЕГІЗДЕР</a:t>
            </a:r>
            <a:endParaRPr lang="en-US" sz="1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6141526" y="1009650"/>
            <a:ext cx="96537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4 минут</a:t>
            </a:r>
            <a:endParaRPr lang="en-US" sz="1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47750" y="2000250"/>
            <a:ext cx="17811750" cy="708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7103"/>
              </a:lnSpc>
              <a:buNone/>
            </a:pPr>
            <a:r>
              <a:rPr lang="en-US" sz="4800" b="1" dirty="0">
                <a:solidFill>
                  <a:srgbClr val="F3F0DF"/>
                </a:solidFill>
                <a:latin typeface="Arial" panose="020B0604020202020204" pitchFamily="34" charset="0"/>
                <a:ea typeface="Georgia" pitchFamily="34" charset="-122"/>
                <a:cs typeface="Arial" panose="020B0604020202020204" pitchFamily="34" charset="0"/>
              </a:rPr>
              <a:t>Russell Group: бес негізгі принцип</a:t>
            </a:r>
            <a:endParaRPr 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047750" y="3051795"/>
            <a:ext cx="3070845" cy="47625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47750" y="3347070"/>
            <a:ext cx="337793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0B98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01</a:t>
            </a: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47750" y="3828083"/>
            <a:ext cx="3162970" cy="830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2432"/>
              </a:lnSpc>
              <a:buNone/>
            </a:pPr>
            <a:r>
              <a:rPr lang="en-US" sz="2400" dirty="0">
                <a:solidFill>
                  <a:srgbClr val="F3F0D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AI сауаттылығын дамыту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328145" y="3051795"/>
            <a:ext cx="3070845" cy="47625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328145" y="3347070"/>
            <a:ext cx="337793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0B98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02</a:t>
            </a: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328145" y="3828083"/>
            <a:ext cx="3162970" cy="830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2432"/>
              </a:lnSpc>
              <a:buNone/>
            </a:pPr>
            <a:r>
              <a:rPr lang="en-US" sz="2400" dirty="0">
                <a:solidFill>
                  <a:srgbClr val="F3F0D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Академиялық адалдықты қорғау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608540" y="3051795"/>
            <a:ext cx="3070845" cy="47625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608540" y="3347070"/>
            <a:ext cx="337793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0B98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03</a:t>
            </a: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608540" y="3828083"/>
            <a:ext cx="3162970" cy="830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2432"/>
              </a:lnSpc>
              <a:buNone/>
            </a:pPr>
            <a:r>
              <a:rPr lang="en-US" sz="2400" dirty="0">
                <a:solidFill>
                  <a:srgbClr val="F3F0D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Оқытушы мен студентті қолдау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10888935" y="3051795"/>
            <a:ext cx="3070845" cy="47625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0888935" y="3347070"/>
            <a:ext cx="337793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0B98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04</a:t>
            </a: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0888935" y="3828083"/>
            <a:ext cx="3162970" cy="830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2432"/>
              </a:lnSpc>
              <a:buNone/>
            </a:pPr>
            <a:r>
              <a:rPr lang="en-US" sz="2400" dirty="0">
                <a:solidFill>
                  <a:srgbClr val="F3F0D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Оқыту мен бағалауды бейімдеу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14169330" y="3051795"/>
            <a:ext cx="3070845" cy="47625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4169330" y="3347070"/>
            <a:ext cx="337793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0B98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05</a:t>
            </a: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4169330" y="3828083"/>
            <a:ext cx="3162970" cy="830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12432"/>
              </a:lnSpc>
              <a:buNone/>
            </a:pPr>
            <a:r>
              <a:rPr lang="en-US" sz="2400" dirty="0">
                <a:solidFill>
                  <a:srgbClr val="F3F0D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Тәжірибе алмасу және саясатты жаңарту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1047750" y="8143875"/>
            <a:ext cx="16192500" cy="1343025"/>
          </a:xfrm>
          <a:prstGeom prst="rect">
            <a:avLst/>
          </a:prstGeom>
          <a:solidFill>
            <a:srgbClr val="F3F0DF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390650" y="8684419"/>
            <a:ext cx="1952580" cy="30003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ИНТЕРАКТИВ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3470523" y="8429625"/>
            <a:ext cx="13829632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391"/>
              </a:lnSpc>
              <a:buNone/>
            </a:pPr>
            <a:r>
              <a:rPr lang="en-US" sz="2250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Командалар бес принципті университет үшін маңыздылығы бойынша дәрежелейді және №1 таңдауын дәлелдейді.</a:t>
            </a:r>
            <a:endParaRPr lang="en-US" sz="2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0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600200"/>
            <a:ext cx="16192500" cy="19050"/>
          </a:xfrm>
          <a:prstGeom prst="rect">
            <a:avLst/>
          </a:prstGeom>
          <a:solidFill>
            <a:srgbClr val="0A2540">
              <a:alpha val="18000"/>
            </a:srgbClr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47750" y="1009650"/>
            <a:ext cx="491239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273" dirty="0">
                <a:solidFill>
                  <a:srgbClr val="0A2540">
                    <a:alpha val="55000"/>
                  </a:srgbClr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II БЛОК · ӘЛЕМДІК ТӘЖІРИБЕ</a:t>
            </a:r>
            <a:endParaRPr lang="en-US" sz="1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47750" y="2000250"/>
            <a:ext cx="17811750" cy="708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7103"/>
              </a:lnSpc>
              <a:buNone/>
            </a:pPr>
            <a:r>
              <a:rPr lang="en-US" sz="4800" b="1" dirty="0">
                <a:solidFill>
                  <a:srgbClr val="0A2540"/>
                </a:solidFill>
                <a:latin typeface="Arial" panose="020B0604020202020204" pitchFamily="34" charset="0"/>
                <a:ea typeface="Georgia" pitchFamily="34" charset="-122"/>
                <a:cs typeface="Arial" panose="020B0604020202020204" pitchFamily="34" charset="0"/>
              </a:rPr>
              <a:t>Harvard: деректер шекарасы және жауапкершілік</a:t>
            </a:r>
            <a:endParaRPr 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47750" y="3051795"/>
            <a:ext cx="861250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0A2540">
                    <a:alpha val="55000"/>
                  </a:srgbClr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ТЕОРИЯЛЫҚ ФРЕЙМВОРК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047750" y="3675683"/>
            <a:ext cx="133350" cy="13335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352550" y="3542333"/>
            <a:ext cx="7750492" cy="9124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692"/>
              </a:lnSpc>
              <a:buNone/>
            </a:pPr>
            <a:r>
              <a:rPr lang="en-US" sz="2550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Орталық базалық норма + факультет деңгейіндегі икемділік</a:t>
            </a:r>
            <a:endParaRPr lang="en-US" sz="25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047750" y="4778648"/>
            <a:ext cx="133350" cy="13335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352550" y="4645298"/>
            <a:ext cx="6945518" cy="4752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692"/>
              </a:lnSpc>
              <a:buNone/>
            </a:pPr>
            <a:r>
              <a:rPr lang="en-US" sz="2550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Құпия және дербес деректерге қатаң тыйым</a:t>
            </a:r>
            <a:endParaRPr lang="en-US" sz="25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047750" y="5444430"/>
            <a:ext cx="133350" cy="13335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352550" y="5311080"/>
            <a:ext cx="5940251" cy="4752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692"/>
              </a:lnSpc>
              <a:buNone/>
            </a:pPr>
            <a:r>
              <a:rPr lang="en-US" sz="2550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Нәтиже үшін жауапкершілік — адамда</a:t>
            </a:r>
            <a:endParaRPr lang="en-US" sz="25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9410700" y="3051795"/>
            <a:ext cx="7829550" cy="4711080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753600" y="3432795"/>
            <a:ext cx="785812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0A2540">
                    <a:alpha val="55000"/>
                  </a:srgbClr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ПРАКТИКАЛЫҚ АСПЕКТ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9753600" y="3923333"/>
            <a:ext cx="7358063" cy="1398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051"/>
              </a:lnSpc>
              <a:buNone/>
            </a:pPr>
            <a:r>
              <a:rPr lang="en-US" sz="2550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Бізде де екі деңгей болады: университеттік минимум ережелер және кафедра деңгейіндегі курс саясаты — силлабуста жазылады.</a:t>
            </a:r>
            <a:endParaRPr lang="en-US" sz="25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047750" y="8143875"/>
            <a:ext cx="16192500" cy="1343025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390650" y="8684419"/>
            <a:ext cx="1952580" cy="30003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10B98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ИНТЕРАКТИВ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470523" y="8429625"/>
            <a:ext cx="13829632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391"/>
              </a:lnSpc>
              <a:buNone/>
            </a:pPr>
            <a:r>
              <a:rPr lang="en-US" sz="2250" dirty="0">
                <a:solidFill>
                  <a:srgbClr val="F3F0D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Дауыс беру: қандай деректер AI құралдарына мүлдем енбейді? Командалар үш позициядан тізім жасайды.</a:t>
            </a:r>
            <a:endParaRPr lang="en-US" sz="2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0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600200"/>
            <a:ext cx="16192500" cy="19050"/>
          </a:xfrm>
          <a:prstGeom prst="rect">
            <a:avLst/>
          </a:prstGeom>
          <a:solidFill>
            <a:srgbClr val="0A2540">
              <a:alpha val="18000"/>
            </a:srgbClr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47750" y="1009650"/>
            <a:ext cx="491239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273" dirty="0">
                <a:solidFill>
                  <a:srgbClr val="0A2540">
                    <a:alpha val="55000"/>
                  </a:srgbClr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II БЛОК · ӘЛЕМДІК ТӘЖІРИБЕ</a:t>
            </a:r>
            <a:endParaRPr lang="en-US" sz="1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47750" y="2000250"/>
            <a:ext cx="17811750" cy="708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7103"/>
              </a:lnSpc>
              <a:buNone/>
            </a:pPr>
            <a:r>
              <a:rPr lang="en-US" sz="4800" b="1" dirty="0">
                <a:solidFill>
                  <a:srgbClr val="0A2540"/>
                </a:solidFill>
                <a:latin typeface="Arial" panose="020B0604020202020204" pitchFamily="34" charset="0"/>
                <a:ea typeface="Georgia" pitchFamily="34" charset="-122"/>
                <a:cs typeface="Arial" panose="020B0604020202020204" pitchFamily="34" charset="0"/>
              </a:rPr>
              <a:t>Stanford: академиялық адалдықтың үш режимі</a:t>
            </a:r>
            <a:endParaRPr 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047750" y="3051795"/>
            <a:ext cx="5219700" cy="3852937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047750" y="3051795"/>
            <a:ext cx="5219700" cy="57150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371600" y="3489945"/>
            <a:ext cx="502920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kern="0" spc="135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ТЫЙЫМ</a:t>
            </a:r>
            <a:endParaRPr lang="en-US" sz="2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371600" y="4009058"/>
            <a:ext cx="4709160" cy="860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6757"/>
              </a:lnSpc>
              <a:buNone/>
            </a:pPr>
            <a:r>
              <a:rPr lang="en-US" sz="2400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Емтихан, бақылау жұмысы, дағды тексерілетін тапсырмалар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534150" y="3051795"/>
            <a:ext cx="5219700" cy="3852937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534150" y="3051795"/>
            <a:ext cx="5219700" cy="5715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858000" y="3489945"/>
            <a:ext cx="502920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kern="0" spc="135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ШЕКТЕУЛІ РҰҚСАТ</a:t>
            </a:r>
            <a:endParaRPr lang="en-US" sz="2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858000" y="4009058"/>
            <a:ext cx="4709160" cy="127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6757"/>
              </a:lnSpc>
              <a:buNone/>
            </a:pPr>
            <a:r>
              <a:rPr lang="en-US" sz="2400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Идея, редакция, аударма — қолдану міндетті түрде көрсетіледі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2020550" y="3051795"/>
            <a:ext cx="5219700" cy="3852937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12020550" y="3051795"/>
            <a:ext cx="5219700" cy="5715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2344400" y="3489945"/>
            <a:ext cx="502920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kern="0" spc="135" dirty="0">
                <a:solidFill>
                  <a:srgbClr val="F3F0D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АШЫҚ ҚОЛДАНУ</a:t>
            </a:r>
            <a:endParaRPr lang="en-US" sz="2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2344400" y="4009058"/>
            <a:ext cx="4709160" cy="860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6757"/>
              </a:lnSpc>
              <a:buNone/>
            </a:pPr>
            <a:r>
              <a:rPr lang="en-US" sz="2400" dirty="0">
                <a:solidFill>
                  <a:srgbClr val="F3F0D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Жоба, прототип, деректер талдауы — процесс тіркеледі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47750" y="7285732"/>
            <a:ext cx="8064437" cy="9010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081"/>
              </a:lnSpc>
              <a:buNone/>
            </a:pPr>
            <a:r>
              <a:rPr lang="en-US" sz="2400" b="1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Фреймворк: </a:t>
            </a:r>
            <a:r>
              <a:rPr lang="en-US" sz="2400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рұқсат етілмеген көмек презумпциясы — оқытушы жазбаса, AI қолдануға болмайды.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9410700" y="7285732"/>
            <a:ext cx="8064437" cy="9010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081"/>
              </a:lnSpc>
              <a:buNone/>
            </a:pPr>
            <a:r>
              <a:rPr lang="en-US" sz="2400" b="1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Практика: </a:t>
            </a:r>
            <a:r>
              <a:rPr lang="en-US" sz="2400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силлабустың міндетті бөлімі — «AI режимі» және дәйектеу формасы.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1047750" y="8529638"/>
            <a:ext cx="16192500" cy="957263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390650" y="8877300"/>
            <a:ext cx="1952580" cy="30003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10B98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ИНТЕРАКТИВ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3470523" y="8815388"/>
            <a:ext cx="14387326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391"/>
              </a:lnSpc>
              <a:buNone/>
            </a:pPr>
            <a:r>
              <a:rPr lang="en-US" sz="2250" dirty="0">
                <a:solidFill>
                  <a:srgbClr val="F3F0D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Әр команда өз пәнінен бір тапсырманы алып, оны үш режимнің біріне жатқызады және себебін айтады.</a:t>
            </a:r>
            <a:endParaRPr lang="en-US" sz="2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0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600200"/>
            <a:ext cx="16192500" cy="19050"/>
          </a:xfrm>
          <a:prstGeom prst="rect">
            <a:avLst/>
          </a:prstGeom>
          <a:solidFill>
            <a:srgbClr val="0A2540">
              <a:alpha val="18000"/>
            </a:srgbClr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47750" y="1009650"/>
            <a:ext cx="491239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273" dirty="0">
                <a:solidFill>
                  <a:srgbClr val="0A2540">
                    <a:alpha val="55000"/>
                  </a:srgbClr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II БЛОК · ӘЛЕМДІК ТӘЖІРИБЕ</a:t>
            </a:r>
            <a:endParaRPr lang="en-US" sz="1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47750" y="2000250"/>
            <a:ext cx="17811750" cy="708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7103"/>
              </a:lnSpc>
              <a:buNone/>
            </a:pPr>
            <a:r>
              <a:rPr lang="en-US" sz="4800" b="1" dirty="0">
                <a:solidFill>
                  <a:srgbClr val="0A2540"/>
                </a:solidFill>
                <a:latin typeface="Arial" panose="020B0604020202020204" pitchFamily="34" charset="0"/>
                <a:ea typeface="Georgia" pitchFamily="34" charset="-122"/>
                <a:cs typeface="Arial" panose="020B0604020202020204" pitchFamily="34" charset="0"/>
              </a:rPr>
              <a:t>Oxford: деректерді қорғау мен зерттеу этикасы</a:t>
            </a:r>
            <a:endParaRPr 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047750" y="3051795"/>
            <a:ext cx="7943850" cy="2395984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371600" y="3394695"/>
            <a:ext cx="272653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8073"/>
              </a:lnSpc>
              <a:buNone/>
            </a:pPr>
            <a:r>
              <a:rPr lang="en-US" sz="3600" b="1" dirty="0">
                <a:solidFill>
                  <a:srgbClr val="10B981"/>
                </a:solidFill>
                <a:latin typeface="Arial" panose="020B0604020202020204" pitchFamily="34" charset="0"/>
                <a:ea typeface="Georgia" pitchFamily="34" charset="-122"/>
                <a:cs typeface="Arial" panose="020B0604020202020204" pitchFamily="34" charset="0"/>
              </a:rPr>
              <a:t>1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777603" y="3394695"/>
            <a:ext cx="7096851" cy="8867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237"/>
              </a:lnSpc>
              <a:buNone/>
            </a:pPr>
            <a:r>
              <a:rPr lang="en-US" sz="2475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Дербес және жарияланбаған деректер ашық құралдарға жүктелмейді</a:t>
            </a:r>
            <a:endParaRPr lang="en-US" sz="247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9296400" y="3051795"/>
            <a:ext cx="7943850" cy="2395984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620250" y="3394695"/>
            <a:ext cx="331589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8073"/>
              </a:lnSpc>
              <a:buNone/>
            </a:pPr>
            <a:r>
              <a:rPr lang="en-US" sz="3600" b="1" dirty="0">
                <a:solidFill>
                  <a:srgbClr val="10B981"/>
                </a:solidFill>
                <a:latin typeface="Arial" panose="020B0604020202020204" pitchFamily="34" charset="0"/>
                <a:ea typeface="Georgia" pitchFamily="34" charset="-122"/>
                <a:cs typeface="Arial" panose="020B0604020202020204" pitchFamily="34" charset="0"/>
              </a:rPr>
              <a:t>2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085189" y="3394695"/>
            <a:ext cx="6959761" cy="4624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237"/>
              </a:lnSpc>
              <a:buNone/>
            </a:pPr>
            <a:r>
              <a:rPr lang="en-US" sz="2475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Баға қоюда соңғы шешім — адамның қолында</a:t>
            </a:r>
            <a:endParaRPr lang="en-US" sz="247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047750" y="5752579"/>
            <a:ext cx="7943850" cy="2396058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371600" y="6095479"/>
            <a:ext cx="328464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8073"/>
              </a:lnSpc>
              <a:buNone/>
            </a:pPr>
            <a:r>
              <a:rPr lang="en-US" sz="3600" b="1" dirty="0">
                <a:solidFill>
                  <a:srgbClr val="10B981"/>
                </a:solidFill>
                <a:latin typeface="Arial" panose="020B0604020202020204" pitchFamily="34" charset="0"/>
                <a:ea typeface="Georgia" pitchFamily="34" charset="-122"/>
                <a:cs typeface="Arial" panose="020B0604020202020204" pitchFamily="34" charset="0"/>
              </a:rPr>
              <a:t>3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833414" y="6095479"/>
            <a:ext cx="7039366" cy="8867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237"/>
              </a:lnSpc>
              <a:buNone/>
            </a:pPr>
            <a:r>
              <a:rPr lang="en-US" sz="2475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AI автор бола алмайды: жауапкершілік зерттеушіде</a:t>
            </a:r>
            <a:endParaRPr lang="en-US" sz="247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9296400" y="5752579"/>
            <a:ext cx="7943850" cy="2396058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9620250" y="6095479"/>
            <a:ext cx="33449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8073"/>
              </a:lnSpc>
              <a:buNone/>
            </a:pPr>
            <a:r>
              <a:rPr lang="en-US" sz="3600" b="1" dirty="0">
                <a:solidFill>
                  <a:srgbClr val="10B981"/>
                </a:solidFill>
                <a:latin typeface="Arial" panose="020B0604020202020204" pitchFamily="34" charset="0"/>
                <a:ea typeface="Georgia" pitchFamily="34" charset="-122"/>
                <a:cs typeface="Arial" panose="020B0604020202020204" pitchFamily="34" charset="0"/>
              </a:rPr>
              <a:t>4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0088091" y="6095479"/>
            <a:ext cx="7001999" cy="4624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237"/>
              </a:lnSpc>
              <a:buNone/>
            </a:pPr>
            <a:r>
              <a:rPr lang="en-US" sz="2475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Қолдану әдістеме бөлімінде ашық көрсетіледі</a:t>
            </a:r>
            <a:endParaRPr lang="en-US" sz="247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1047750" y="8529638"/>
            <a:ext cx="16192500" cy="957263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390650" y="8877300"/>
            <a:ext cx="1952580" cy="30003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10B98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ИНТЕРАКТИВ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470523" y="8815388"/>
            <a:ext cx="1270536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391"/>
              </a:lnSpc>
              <a:buNone/>
            </a:pPr>
            <a:r>
              <a:rPr lang="en-US" sz="2250" dirty="0">
                <a:solidFill>
                  <a:srgbClr val="F3F0D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Командалар жарияланымдағы AI қолдануын дәйектеудің бір сөйлемдік үлгі мәтінін жазады.</a:t>
            </a:r>
            <a:endParaRPr lang="en-US" sz="2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600200"/>
            <a:ext cx="16192500" cy="19050"/>
          </a:xfrm>
          <a:prstGeom prst="rect">
            <a:avLst/>
          </a:prstGeom>
          <a:solidFill>
            <a:srgbClr val="F3F0DF">
              <a:alpha val="22000"/>
            </a:srgbClr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47750" y="1009650"/>
            <a:ext cx="401140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273" dirty="0">
                <a:solidFill>
                  <a:srgbClr val="F3F0DF">
                    <a:alpha val="60000"/>
                  </a:srgbClr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III БЛОК · GOVERNANCE</a:t>
            </a:r>
            <a:endParaRPr lang="en-US" sz="1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6141526" y="1009650"/>
            <a:ext cx="96537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3 минут</a:t>
            </a:r>
            <a:endParaRPr lang="en-US" sz="1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47750" y="2000250"/>
            <a:ext cx="17811750" cy="708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7103"/>
              </a:lnSpc>
              <a:buNone/>
            </a:pPr>
            <a:r>
              <a:rPr lang="en-US" sz="4800" b="1" dirty="0">
                <a:solidFill>
                  <a:srgbClr val="F3F0DF"/>
                </a:solidFill>
                <a:latin typeface="Arial" panose="020B0604020202020204" pitchFamily="34" charset="0"/>
                <a:ea typeface="Georgia" pitchFamily="34" charset="-122"/>
                <a:cs typeface="Arial" panose="020B0604020202020204" pitchFamily="34" charset="0"/>
              </a:rPr>
              <a:t>Академиялық басқару: шешім деңгейлері</a:t>
            </a:r>
            <a:endParaRPr 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047750" y="3051795"/>
            <a:ext cx="16192500" cy="19050"/>
          </a:xfrm>
          <a:prstGeom prst="rect">
            <a:avLst/>
          </a:prstGeom>
          <a:solidFill>
            <a:srgbClr val="F3F0DF">
              <a:alpha val="30000"/>
            </a:srgbClr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47750" y="3280395"/>
            <a:ext cx="472973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195" dirty="0">
                <a:solidFill>
                  <a:srgbClr val="10B98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ДЕҢГЕЙ</a:t>
            </a:r>
            <a:endParaRPr lang="en-US" sz="1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090270" y="3280395"/>
            <a:ext cx="585356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195" dirty="0">
                <a:solidFill>
                  <a:srgbClr val="10B98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ШЕШІМ ӨКІЛЕТТІГІ</a:t>
            </a:r>
            <a:endParaRPr lang="en-US" sz="1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2217226" y="3280395"/>
            <a:ext cx="518057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195" dirty="0">
                <a:solidFill>
                  <a:srgbClr val="10B98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ҚҰЖАТ</a:t>
            </a:r>
            <a:endParaRPr lang="en-US" sz="1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047750" y="3775695"/>
            <a:ext cx="4813920" cy="9525"/>
          </a:xfrm>
          <a:prstGeom prst="rect">
            <a:avLst/>
          </a:prstGeom>
          <a:solidFill>
            <a:srgbClr val="F3F0DF">
              <a:alpha val="20000"/>
            </a:srgbClr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47750" y="4032870"/>
            <a:ext cx="4729738" cy="828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3F0D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Ғылыми кеңес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861670" y="3775695"/>
            <a:ext cx="6126956" cy="9525"/>
          </a:xfrm>
          <a:prstGeom prst="rect">
            <a:avLst/>
          </a:prstGeom>
          <a:solidFill>
            <a:srgbClr val="F3F0DF">
              <a:alpha val="20000"/>
            </a:srgbClr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090270" y="4032870"/>
            <a:ext cx="5853565" cy="828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F3F0D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Саясатты бекіту, қаржы мен құралдарды таңдау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1988626" y="3775695"/>
            <a:ext cx="5251624" cy="9525"/>
          </a:xfrm>
          <a:prstGeom prst="rect">
            <a:avLst/>
          </a:prstGeom>
          <a:solidFill>
            <a:srgbClr val="F3F0DF">
              <a:alpha val="20000"/>
            </a:srgbClr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2217226" y="4032870"/>
            <a:ext cx="5180572" cy="828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F3F0D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AI Policy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047750" y="5071095"/>
            <a:ext cx="4813920" cy="9525"/>
          </a:xfrm>
          <a:prstGeom prst="rect">
            <a:avLst/>
          </a:prstGeom>
          <a:solidFill>
            <a:srgbClr val="F3F0DF">
              <a:alpha val="20000"/>
            </a:srgbClr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047750" y="5328270"/>
            <a:ext cx="4729738" cy="433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3F0D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Оқу-әдістемелік кеңес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861670" y="5071095"/>
            <a:ext cx="6126956" cy="9525"/>
          </a:xfrm>
          <a:prstGeom prst="rect">
            <a:avLst/>
          </a:prstGeom>
          <a:solidFill>
            <a:srgbClr val="F3F0DF">
              <a:alpha val="20000"/>
            </a:srgbClr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090270" y="5328270"/>
            <a:ext cx="5853565" cy="433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F3F0D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Бағалау мен силлабус талаптары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11988626" y="5071095"/>
            <a:ext cx="5251624" cy="9525"/>
          </a:xfrm>
          <a:prstGeom prst="rect">
            <a:avLst/>
          </a:prstGeom>
          <a:solidFill>
            <a:srgbClr val="F3F0DF">
              <a:alpha val="20000"/>
            </a:srgbClr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2217226" y="5328270"/>
            <a:ext cx="5180572" cy="433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F3F0D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Әдістемелік нұсқау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1047750" y="5971208"/>
            <a:ext cx="4813920" cy="9525"/>
          </a:xfrm>
          <a:prstGeom prst="rect">
            <a:avLst/>
          </a:prstGeom>
          <a:solidFill>
            <a:srgbClr val="F3F0DF">
              <a:alpha val="20000"/>
            </a:srgbClr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047750" y="6228383"/>
            <a:ext cx="4729738" cy="433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3F0D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Этика комиссиясы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861670" y="5971208"/>
            <a:ext cx="6126956" cy="9525"/>
          </a:xfrm>
          <a:prstGeom prst="rect">
            <a:avLst/>
          </a:prstGeom>
          <a:solidFill>
            <a:srgbClr val="F3F0DF">
              <a:alpha val="20000"/>
            </a:srgbClr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090270" y="6228383"/>
            <a:ext cx="5853565" cy="433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F3F0D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Дауларды қарау, шара ұсыну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11988626" y="5971208"/>
            <a:ext cx="5251624" cy="9525"/>
          </a:xfrm>
          <a:prstGeom prst="rect">
            <a:avLst/>
          </a:prstGeom>
          <a:solidFill>
            <a:srgbClr val="F3F0DF">
              <a:alpha val="20000"/>
            </a:srgbClr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2217226" y="6228383"/>
            <a:ext cx="5180572" cy="433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F3F0D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Дау регламенті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1047750" y="6871320"/>
            <a:ext cx="4813920" cy="9525"/>
          </a:xfrm>
          <a:prstGeom prst="rect">
            <a:avLst/>
          </a:prstGeom>
          <a:solidFill>
            <a:srgbClr val="F3F0DF">
              <a:alpha val="20000"/>
            </a:srgbClr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047750" y="7128495"/>
            <a:ext cx="4729738" cy="828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3F0D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Кафедра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5861670" y="6871320"/>
            <a:ext cx="6126956" cy="9525"/>
          </a:xfrm>
          <a:prstGeom prst="rect">
            <a:avLst/>
          </a:prstGeom>
          <a:solidFill>
            <a:srgbClr val="F3F0DF">
              <a:alpha val="20000"/>
            </a:srgbClr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090270" y="7128495"/>
            <a:ext cx="5853565" cy="828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F3F0D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Курс режимін белгілеу, оқытуды ұйымдастыру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11988626" y="6871320"/>
            <a:ext cx="5251624" cy="9525"/>
          </a:xfrm>
          <a:prstGeom prst="rect">
            <a:avLst/>
          </a:prstGeom>
          <a:solidFill>
            <a:srgbClr val="F3F0DF">
              <a:alpha val="20000"/>
            </a:srgbClr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12217226" y="7128495"/>
            <a:ext cx="5180572" cy="828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F3F0D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Силлабус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1047750" y="8547720"/>
            <a:ext cx="16192500" cy="957263"/>
          </a:xfrm>
          <a:prstGeom prst="rect">
            <a:avLst/>
          </a:prstGeom>
          <a:solidFill>
            <a:srgbClr val="F3F0DF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1390650" y="8895383"/>
            <a:ext cx="1952580" cy="30003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ИНТЕРАКТИВ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3470523" y="8833470"/>
            <a:ext cx="13412264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391"/>
              </a:lnSpc>
              <a:buNone/>
            </a:pPr>
            <a:r>
              <a:rPr lang="en-US" sz="2250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Кейс: студент AI-мен эссе жазды. Қай деңгей шешеді? Командалар кестеден бір жолды таңдайды.</a:t>
            </a:r>
            <a:endParaRPr lang="en-US" sz="2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0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600200"/>
            <a:ext cx="16192500" cy="19050"/>
          </a:xfrm>
          <a:prstGeom prst="rect">
            <a:avLst/>
          </a:prstGeom>
          <a:solidFill>
            <a:srgbClr val="0A2540">
              <a:alpha val="18000"/>
            </a:srgbClr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47750" y="1009650"/>
            <a:ext cx="329116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273" dirty="0">
                <a:solidFill>
                  <a:srgbClr val="0A2540">
                    <a:alpha val="55000"/>
                  </a:srgbClr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IV БЛОК · ЖОБАЛАУ</a:t>
            </a:r>
            <a:endParaRPr lang="en-US" sz="1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47750" y="2000250"/>
            <a:ext cx="17811750" cy="708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7103"/>
              </a:lnSpc>
              <a:buNone/>
            </a:pPr>
            <a:r>
              <a:rPr lang="en-US" sz="4800" b="1" dirty="0">
                <a:solidFill>
                  <a:srgbClr val="0A2540"/>
                </a:solidFill>
                <a:latin typeface="Arial" panose="020B0604020202020204" pitchFamily="34" charset="0"/>
                <a:ea typeface="Georgia" pitchFamily="34" charset="-122"/>
                <a:cs typeface="Arial" panose="020B0604020202020204" pitchFamily="34" charset="0"/>
              </a:rPr>
              <a:t>Университет саясатының төрт блогы</a:t>
            </a:r>
            <a:endParaRPr 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047750" y="3051795"/>
            <a:ext cx="3862387" cy="5096842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047750" y="3051795"/>
            <a:ext cx="3862387" cy="5715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333500" y="3451845"/>
            <a:ext cx="361997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A2540">
                    <a:alpha val="55000"/>
                  </a:srgbClr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Блок 1</a:t>
            </a:r>
            <a:endParaRPr lang="en-US" sz="1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333500" y="3909045"/>
            <a:ext cx="3619976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1099"/>
              </a:lnSpc>
              <a:buNone/>
            </a:pPr>
            <a:r>
              <a:rPr lang="en-US" sz="3000" b="1" dirty="0">
                <a:solidFill>
                  <a:srgbClr val="0A2540"/>
                </a:solidFill>
                <a:latin typeface="Arial" panose="020B0604020202020204" pitchFamily="34" charset="0"/>
                <a:ea typeface="Georgia" pitchFamily="34" charset="-122"/>
                <a:cs typeface="Arial" panose="020B0604020202020204" pitchFamily="34" charset="0"/>
              </a:rPr>
              <a:t>Оқу процесі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333500" y="4518645"/>
            <a:ext cx="3389614" cy="783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6866"/>
              </a:lnSpc>
              <a:buNone/>
            </a:pPr>
            <a:r>
              <a:rPr lang="en-US" sz="2175" dirty="0">
                <a:solidFill>
                  <a:srgbClr val="0A2540">
                    <a:alpha val="75000"/>
                  </a:srgbClr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Сабақ, тапсырма, AI сауаттылығы</a:t>
            </a:r>
            <a:endParaRPr lang="en-US" sz="217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157788" y="3051795"/>
            <a:ext cx="3862387" cy="5096842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157788" y="3051795"/>
            <a:ext cx="3862387" cy="5715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443538" y="3451845"/>
            <a:ext cx="361997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A2540">
                    <a:alpha val="55000"/>
                  </a:srgbClr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Блок 2</a:t>
            </a:r>
            <a:endParaRPr lang="en-US" sz="1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443538" y="3909045"/>
            <a:ext cx="3389614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1099"/>
              </a:lnSpc>
              <a:buNone/>
            </a:pPr>
            <a:r>
              <a:rPr lang="en-US" sz="3000" b="1" dirty="0">
                <a:solidFill>
                  <a:srgbClr val="0A2540"/>
                </a:solidFill>
                <a:latin typeface="Arial" panose="020B0604020202020204" pitchFamily="34" charset="0"/>
                <a:ea typeface="Georgia" pitchFamily="34" charset="-122"/>
                <a:cs typeface="Arial" panose="020B0604020202020204" pitchFamily="34" charset="0"/>
              </a:rPr>
              <a:t>Бағалау мен адалдық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443538" y="4956795"/>
            <a:ext cx="3389614" cy="783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6866"/>
              </a:lnSpc>
              <a:buNone/>
            </a:pPr>
            <a:r>
              <a:rPr lang="en-US" sz="2175" dirty="0">
                <a:solidFill>
                  <a:srgbClr val="0A2540">
                    <a:alpha val="75000"/>
                  </a:srgbClr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Режимдер, дәйектеу, шаралар</a:t>
            </a:r>
            <a:endParaRPr lang="en-US" sz="217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9267825" y="3051795"/>
            <a:ext cx="3862387" cy="5096842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9267825" y="3051795"/>
            <a:ext cx="3862387" cy="5715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553575" y="3451845"/>
            <a:ext cx="361997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A2540">
                    <a:alpha val="55000"/>
                  </a:srgbClr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Блок 3</a:t>
            </a:r>
            <a:endParaRPr lang="en-US" sz="1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9553575" y="3909045"/>
            <a:ext cx="3389614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1099"/>
              </a:lnSpc>
              <a:buNone/>
            </a:pPr>
            <a:r>
              <a:rPr lang="en-US" sz="3000" b="1" dirty="0">
                <a:solidFill>
                  <a:srgbClr val="0A2540"/>
                </a:solidFill>
                <a:latin typeface="Arial" panose="020B0604020202020204" pitchFamily="34" charset="0"/>
                <a:ea typeface="Georgia" pitchFamily="34" charset="-122"/>
                <a:cs typeface="Arial" panose="020B0604020202020204" pitchFamily="34" charset="0"/>
              </a:rPr>
              <a:t>Зерттеу мен жариялау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9553575" y="4956795"/>
            <a:ext cx="3389614" cy="783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6866"/>
              </a:lnSpc>
              <a:buNone/>
            </a:pPr>
            <a:r>
              <a:rPr lang="en-US" sz="2175" dirty="0">
                <a:solidFill>
                  <a:srgbClr val="0A2540">
                    <a:alpha val="75000"/>
                  </a:srgbClr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Авторлық, дәйектеу, деректер</a:t>
            </a:r>
            <a:endParaRPr lang="en-US" sz="217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13377863" y="3051795"/>
            <a:ext cx="3862387" cy="5096842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13377863" y="3051795"/>
            <a:ext cx="3862387" cy="5715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3663613" y="3451845"/>
            <a:ext cx="361997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A2540">
                    <a:alpha val="55000"/>
                  </a:srgbClr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Блок 4</a:t>
            </a:r>
            <a:endParaRPr lang="en-US" sz="1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3663613" y="3909045"/>
            <a:ext cx="3389614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1099"/>
              </a:lnSpc>
              <a:buNone/>
            </a:pPr>
            <a:r>
              <a:rPr lang="en-US" sz="3000" b="1" dirty="0">
                <a:solidFill>
                  <a:srgbClr val="0A2540"/>
                </a:solidFill>
                <a:latin typeface="Arial" panose="020B0604020202020204" pitchFamily="34" charset="0"/>
                <a:ea typeface="Georgia" pitchFamily="34" charset="-122"/>
                <a:cs typeface="Arial" panose="020B0604020202020204" pitchFamily="34" charset="0"/>
              </a:rPr>
              <a:t>Әкімшілік және деректер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3663613" y="4956795"/>
            <a:ext cx="3389614" cy="783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6866"/>
              </a:lnSpc>
              <a:buNone/>
            </a:pPr>
            <a:r>
              <a:rPr lang="en-US" sz="2175" dirty="0">
                <a:solidFill>
                  <a:srgbClr val="0A2540">
                    <a:alpha val="75000"/>
                  </a:srgbClr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Құралдар, қауіпсіздік, сатып алу</a:t>
            </a:r>
            <a:endParaRPr lang="en-US" sz="217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1047750" y="8529638"/>
            <a:ext cx="16192500" cy="957263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390650" y="8877300"/>
            <a:ext cx="1952580" cy="30003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10B98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ИНТЕРАКТИВ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3470523" y="8815388"/>
            <a:ext cx="14094366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17391"/>
              </a:lnSpc>
              <a:buNone/>
            </a:pPr>
            <a:r>
              <a:rPr lang="en-US" sz="2250" dirty="0">
                <a:solidFill>
                  <a:srgbClr val="F3F0D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Блоктарды бөлу: №1 команда — Блок 1, №2 — Блок 2, №3 — Блок 3, №4 — Блок 4. Шаблон таратылады.</a:t>
            </a:r>
            <a:endParaRPr lang="en-US" sz="2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0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600200"/>
            <a:ext cx="16192500" cy="19050"/>
          </a:xfrm>
          <a:prstGeom prst="rect">
            <a:avLst/>
          </a:prstGeom>
          <a:solidFill>
            <a:srgbClr val="0A2540">
              <a:alpha val="18000"/>
            </a:srgbClr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47750" y="1009650"/>
            <a:ext cx="329116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273" dirty="0">
                <a:solidFill>
                  <a:srgbClr val="0A2540">
                    <a:alpha val="55000"/>
                  </a:srgbClr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IV БЛОК · ЖОБАЛАУ</a:t>
            </a:r>
            <a:endParaRPr lang="en-US" sz="1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47750" y="2000250"/>
            <a:ext cx="17811750" cy="708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7103"/>
              </a:lnSpc>
              <a:buNone/>
            </a:pPr>
            <a:r>
              <a:rPr lang="en-US" sz="4800" b="1" dirty="0">
                <a:solidFill>
                  <a:srgbClr val="0A2540"/>
                </a:solidFill>
                <a:latin typeface="Arial" panose="020B0604020202020204" pitchFamily="34" charset="0"/>
                <a:ea typeface="Georgia" pitchFamily="34" charset="-122"/>
                <a:cs typeface="Arial" panose="020B0604020202020204" pitchFamily="34" charset="0"/>
              </a:rPr>
              <a:t>Командалық жұмыс: оқу процесі мен бағалау</a:t>
            </a:r>
            <a:endParaRPr 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047750" y="3051795"/>
            <a:ext cx="7943850" cy="5096842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390650" y="3432795"/>
            <a:ext cx="798385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195" dirty="0">
                <a:solidFill>
                  <a:srgbClr val="0A2540">
                    <a:alpha val="55000"/>
                  </a:srgbClr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БЛОК 1 · ОҚУ ПРОЦЕСІ</a:t>
            </a:r>
            <a:endParaRPr lang="en-US" sz="1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390650" y="3928095"/>
            <a:ext cx="7475792" cy="1358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1579"/>
              </a:lnSpc>
              <a:buNone/>
            </a:pPr>
            <a:r>
              <a:rPr lang="en-US" sz="2475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Қандай тапсырмаларда AI оқу құралы? Оқытушы студентті қалай дайындайды? AI сауаттылығы қай пәнде оқытылады?</a:t>
            </a:r>
            <a:endParaRPr lang="en-US" sz="247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390650" y="7258050"/>
            <a:ext cx="4018359" cy="509587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581150" y="7353300"/>
            <a:ext cx="3757910" cy="3571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Нәтиже: 3 рұқсат + 3 шектеу</a:t>
            </a:r>
            <a:endParaRPr lang="en-US" sz="217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9296400" y="3051795"/>
            <a:ext cx="7943850" cy="5096842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9639300" y="3432795"/>
            <a:ext cx="798385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195" dirty="0">
                <a:solidFill>
                  <a:srgbClr val="0A2540">
                    <a:alpha val="55000"/>
                  </a:srgbClr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БЛОК 2 · БАҒАЛАУ МЕН АДАЛДЫҚ</a:t>
            </a:r>
            <a:endParaRPr lang="en-US" sz="1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9639300" y="3928095"/>
            <a:ext cx="7475792" cy="1358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1579"/>
              </a:lnSpc>
              <a:buNone/>
            </a:pPr>
            <a:r>
              <a:rPr lang="en-US" sz="2475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Дәйектеу формасы қандай? Бұзушылық белгілері қандай? Бірінші рет анықталғанда қандай шара қолданылады?</a:t>
            </a:r>
            <a:endParaRPr lang="en-US" sz="247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9639300" y="7258050"/>
            <a:ext cx="4306193" cy="509587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9829800" y="7353300"/>
            <a:ext cx="4054379" cy="3571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Нәтиже: режим кестесі + шара</a:t>
            </a:r>
            <a:endParaRPr lang="en-US" sz="217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047750" y="8529638"/>
            <a:ext cx="16192500" cy="957263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390650" y="8877300"/>
            <a:ext cx="1952580" cy="30003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10B98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ИНТЕРАКТИВ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470523" y="8815388"/>
            <a:ext cx="1459041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391"/>
              </a:lnSpc>
              <a:buNone/>
            </a:pPr>
            <a:r>
              <a:rPr lang="en-US" sz="2250" dirty="0">
                <a:solidFill>
                  <a:srgbClr val="F3F0D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7 минут жазу → 2 минут таныстыру. Тұжырымдар нормативтік тілде: «рұқсат етіледі», «тыйым салынады».</a:t>
            </a:r>
            <a:endParaRPr lang="en-US" sz="2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0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600200"/>
            <a:ext cx="16192500" cy="19050"/>
          </a:xfrm>
          <a:prstGeom prst="rect">
            <a:avLst/>
          </a:prstGeom>
          <a:solidFill>
            <a:srgbClr val="0A2540">
              <a:alpha val="18000"/>
            </a:srgbClr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47750" y="1009650"/>
            <a:ext cx="329116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273" dirty="0">
                <a:solidFill>
                  <a:srgbClr val="0A2540">
                    <a:alpha val="55000"/>
                  </a:srgbClr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IV БЛОК · ЖОБАЛАУ</a:t>
            </a:r>
            <a:endParaRPr lang="en-US" sz="1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47750" y="2000250"/>
            <a:ext cx="17811750" cy="708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7103"/>
              </a:lnSpc>
              <a:buNone/>
            </a:pPr>
            <a:r>
              <a:rPr lang="en-US" sz="4800" b="1" dirty="0">
                <a:solidFill>
                  <a:srgbClr val="0A2540"/>
                </a:solidFill>
                <a:latin typeface="Arial" panose="020B0604020202020204" pitchFamily="34" charset="0"/>
                <a:ea typeface="Georgia" pitchFamily="34" charset="-122"/>
                <a:cs typeface="Arial" panose="020B0604020202020204" pitchFamily="34" charset="0"/>
              </a:rPr>
              <a:t>Командалық жұмыс: зерттеу мен әкімшілік</a:t>
            </a:r>
            <a:endParaRPr 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047750" y="3051795"/>
            <a:ext cx="7943850" cy="5096842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390650" y="3432795"/>
            <a:ext cx="798385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195" dirty="0">
                <a:solidFill>
                  <a:srgbClr val="0A2540">
                    <a:alpha val="55000"/>
                  </a:srgbClr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БЛОК 3 · ЗЕРТТЕУ МЕН ЖАРИЯЛАУ</a:t>
            </a:r>
            <a:endParaRPr lang="en-US" sz="1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390650" y="3928095"/>
            <a:ext cx="7475792" cy="1358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1579"/>
              </a:lnSpc>
              <a:buNone/>
            </a:pPr>
            <a:r>
              <a:rPr lang="en-US" sz="2475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AI қолдануы мақалада қалай көрсетіледі? Қандай деректер жүктелмейді? Диссертацияда шектеу қандай?</a:t>
            </a:r>
            <a:endParaRPr lang="en-US" sz="247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390650" y="7258050"/>
            <a:ext cx="3403178" cy="509587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581150" y="7353300"/>
            <a:ext cx="3124274" cy="3571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Нәтиже: дәйектеу үлгісі</a:t>
            </a:r>
            <a:endParaRPr lang="en-US" sz="217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9296400" y="3051795"/>
            <a:ext cx="7943850" cy="5096842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9639300" y="3432795"/>
            <a:ext cx="798385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195" dirty="0">
                <a:solidFill>
                  <a:srgbClr val="0A2540">
                    <a:alpha val="55000"/>
                  </a:srgbClr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БЛОК 4 · ӘКІМШІЛІК ЖӘНЕ ДЕРЕКТЕР</a:t>
            </a:r>
            <a:endParaRPr lang="en-US" sz="1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9639300" y="3928095"/>
            <a:ext cx="7475792" cy="1358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1579"/>
              </a:lnSpc>
              <a:buNone/>
            </a:pPr>
            <a:r>
              <a:rPr lang="en-US" sz="2475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Қандай құралдар корпоративтік лицензиямен рұқсат етілген? Дербес деректер қалай қорғалады? Кім жауапты?</a:t>
            </a:r>
            <a:endParaRPr lang="en-US" sz="247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9639300" y="7258050"/>
            <a:ext cx="5279157" cy="509587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9829800" y="7353300"/>
            <a:ext cx="5056532" cy="3571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Нәтиже: рұқсат етілген құралдар тізімі</a:t>
            </a:r>
            <a:endParaRPr lang="en-US" sz="217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047750" y="8529638"/>
            <a:ext cx="16192500" cy="957263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390650" y="8877300"/>
            <a:ext cx="1952580" cy="30003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10B98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ИНТЕРАКТИВ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470523" y="8815388"/>
            <a:ext cx="13213928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391"/>
              </a:lnSpc>
              <a:buNone/>
            </a:pPr>
            <a:r>
              <a:rPr lang="en-US" sz="2250" dirty="0">
                <a:solidFill>
                  <a:srgbClr val="F3F0D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Айқас тексеру: №3 команда №4 команданың жобасына бір сұрақ қояды, содан кейін керісінше.</a:t>
            </a:r>
            <a:endParaRPr lang="en-US" sz="2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600200"/>
            <a:ext cx="16192500" cy="19050"/>
          </a:xfrm>
          <a:prstGeom prst="rect">
            <a:avLst/>
          </a:prstGeom>
          <a:solidFill>
            <a:srgbClr val="F3F0DF">
              <a:alpha val="22000"/>
            </a:srgbClr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47750" y="1009650"/>
            <a:ext cx="329116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273" dirty="0">
                <a:solidFill>
                  <a:srgbClr val="F3F0DF">
                    <a:alpha val="60000"/>
                  </a:srgbClr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IV БЛОК · ЖОБАЛАУ</a:t>
            </a:r>
            <a:endParaRPr lang="en-US" sz="1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6141526" y="1009650"/>
            <a:ext cx="96537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3 минут</a:t>
            </a:r>
            <a:endParaRPr lang="en-US" sz="1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47750" y="2000250"/>
            <a:ext cx="17811750" cy="708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7103"/>
              </a:lnSpc>
              <a:buNone/>
            </a:pPr>
            <a:r>
              <a:rPr lang="en-US" sz="4800" b="1" dirty="0">
                <a:solidFill>
                  <a:srgbClr val="F3F0DF"/>
                </a:solidFill>
                <a:latin typeface="Arial" panose="020B0604020202020204" pitchFamily="34" charset="0"/>
                <a:ea typeface="Georgia" pitchFamily="34" charset="-122"/>
                <a:cs typeface="Arial" panose="020B0604020202020204" pitchFamily="34" charset="0"/>
              </a:rPr>
              <a:t>Этикалық дауларды шешу регламенті</a:t>
            </a:r>
            <a:endParaRPr 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047750" y="3051795"/>
            <a:ext cx="3086100" cy="47625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47750" y="3328020"/>
            <a:ext cx="339471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0B98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Қадам 1</a:t>
            </a: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47750" y="3789983"/>
            <a:ext cx="339471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521"/>
              </a:lnSpc>
              <a:buNone/>
            </a:pPr>
            <a:r>
              <a:rPr lang="en-US" sz="2325" b="1" dirty="0">
                <a:solidFill>
                  <a:srgbClr val="F3F0D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Белгі тіркеледі</a:t>
            </a:r>
            <a:endParaRPr lang="en-US" sz="232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47750" y="4326210"/>
            <a:ext cx="3178683" cy="7323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581"/>
              </a:lnSpc>
              <a:buNone/>
            </a:pPr>
            <a:r>
              <a:rPr lang="en-US" sz="2025" dirty="0">
                <a:solidFill>
                  <a:srgbClr val="F3F0DF">
                    <a:alpha val="72000"/>
                  </a:srgbClr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Оқытушы нақты фактілерді жазады</a:t>
            </a:r>
            <a:endParaRPr lang="en-US" sz="202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324350" y="3051795"/>
            <a:ext cx="3086100" cy="47625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324350" y="3328020"/>
            <a:ext cx="339471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0B98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Қадам 2</a:t>
            </a: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324350" y="3789983"/>
            <a:ext cx="339471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521"/>
              </a:lnSpc>
              <a:buNone/>
            </a:pPr>
            <a:r>
              <a:rPr lang="en-US" sz="2325" b="1" dirty="0">
                <a:solidFill>
                  <a:srgbClr val="F3F0D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Студентпен әңгіме</a:t>
            </a:r>
            <a:endParaRPr lang="en-US" sz="232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324350" y="4326210"/>
            <a:ext cx="3394710" cy="3852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581"/>
              </a:lnSpc>
              <a:buNone/>
            </a:pPr>
            <a:r>
              <a:rPr lang="en-US" sz="2025" dirty="0">
                <a:solidFill>
                  <a:srgbClr val="F3F0DF">
                    <a:alpha val="72000"/>
                  </a:srgbClr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Түсіндіру құқығы беріледі</a:t>
            </a:r>
            <a:endParaRPr lang="en-US" sz="202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600950" y="3051795"/>
            <a:ext cx="3086100" cy="47625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600950" y="3328020"/>
            <a:ext cx="339471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0B98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Қадам 3</a:t>
            </a: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600950" y="3789983"/>
            <a:ext cx="339471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521"/>
              </a:lnSpc>
              <a:buNone/>
            </a:pPr>
            <a:r>
              <a:rPr lang="en-US" sz="2325" b="1" dirty="0">
                <a:solidFill>
                  <a:srgbClr val="F3F0D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Процесс дәлелі</a:t>
            </a:r>
            <a:endParaRPr lang="en-US" sz="232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600950" y="4326210"/>
            <a:ext cx="3178683" cy="7323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581"/>
              </a:lnSpc>
              <a:buNone/>
            </a:pPr>
            <a:r>
              <a:rPr lang="en-US" sz="2025" dirty="0">
                <a:solidFill>
                  <a:srgbClr val="F3F0DF">
                    <a:alpha val="72000"/>
                  </a:srgbClr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Жобалар, нұсқалар, дереккөздер</a:t>
            </a:r>
            <a:endParaRPr lang="en-US" sz="202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10877550" y="3051795"/>
            <a:ext cx="3086100" cy="47625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0877550" y="3328020"/>
            <a:ext cx="339471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0B98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Қадам 4</a:t>
            </a: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0877550" y="3789983"/>
            <a:ext cx="339471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521"/>
              </a:lnSpc>
              <a:buNone/>
            </a:pPr>
            <a:r>
              <a:rPr lang="en-US" sz="2325" b="1" dirty="0">
                <a:solidFill>
                  <a:srgbClr val="F3F0D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Комиссия қарауы</a:t>
            </a:r>
            <a:endParaRPr lang="en-US" sz="232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0877550" y="4326210"/>
            <a:ext cx="3394710" cy="3852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581"/>
              </a:lnSpc>
              <a:buNone/>
            </a:pPr>
            <a:r>
              <a:rPr lang="en-US" sz="2025" dirty="0">
                <a:solidFill>
                  <a:srgbClr val="F3F0DF">
                    <a:alpha val="72000"/>
                  </a:srgbClr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Екі жақ тыңдалады</a:t>
            </a:r>
            <a:endParaRPr lang="en-US" sz="202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14154150" y="3051795"/>
            <a:ext cx="3086100" cy="47625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4154150" y="3328020"/>
            <a:ext cx="339471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59E0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Қадам 5</a:t>
            </a: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4154150" y="3789983"/>
            <a:ext cx="3178683" cy="805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521"/>
              </a:lnSpc>
              <a:buNone/>
            </a:pPr>
            <a:r>
              <a:rPr lang="en-US" sz="2325" b="1" dirty="0">
                <a:solidFill>
                  <a:srgbClr val="F3F0D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Шешім және апелляция</a:t>
            </a:r>
            <a:endParaRPr lang="en-US" sz="232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4154150" y="4710038"/>
            <a:ext cx="3394710" cy="3852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581"/>
              </a:lnSpc>
              <a:buNone/>
            </a:pPr>
            <a:r>
              <a:rPr lang="en-US" sz="2025" dirty="0">
                <a:solidFill>
                  <a:srgbClr val="F3F0DF">
                    <a:alpha val="72000"/>
                  </a:srgbClr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Жазбаша, 10 күн ішінде</a:t>
            </a:r>
            <a:endParaRPr lang="en-US" sz="202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1047750" y="8529638"/>
            <a:ext cx="16192500" cy="957263"/>
          </a:xfrm>
          <a:prstGeom prst="rect">
            <a:avLst/>
          </a:prstGeom>
          <a:solidFill>
            <a:srgbClr val="F3F0DF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390650" y="8877300"/>
            <a:ext cx="1034355" cy="30003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ЕРЕЖЕ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2653605" y="8815388"/>
            <a:ext cx="11705496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391"/>
              </a:lnSpc>
              <a:buNone/>
            </a:pPr>
            <a:r>
              <a:rPr lang="en-US" sz="2250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AI-детектордың пайызы жалғыз дәлел болып саналмайды — процесс дәлелі міндетті.</a:t>
            </a:r>
            <a:endParaRPr lang="en-US" sz="2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0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600200"/>
            <a:ext cx="16192500" cy="19050"/>
          </a:xfrm>
          <a:prstGeom prst="rect">
            <a:avLst/>
          </a:prstGeom>
          <a:solidFill>
            <a:srgbClr val="0A2540">
              <a:alpha val="18000"/>
            </a:srgbClr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47750" y="1009650"/>
            <a:ext cx="329116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273" dirty="0">
                <a:solidFill>
                  <a:srgbClr val="0A2540">
                    <a:alpha val="55000"/>
                  </a:srgbClr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IV БЛОК · ЖОБАЛАУ</a:t>
            </a:r>
            <a:endParaRPr lang="en-US" sz="1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47750" y="2000250"/>
            <a:ext cx="17811750" cy="708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7103"/>
              </a:lnSpc>
              <a:buNone/>
            </a:pPr>
            <a:r>
              <a:rPr lang="en-US" sz="4800" b="1" dirty="0">
                <a:solidFill>
                  <a:srgbClr val="0A2540"/>
                </a:solidFill>
                <a:latin typeface="Arial" panose="020B0604020202020204" pitchFamily="34" charset="0"/>
                <a:ea typeface="Georgia" pitchFamily="34" charset="-122"/>
                <a:cs typeface="Arial" panose="020B0604020202020204" pitchFamily="34" charset="0"/>
              </a:rPr>
              <a:t>Кейс-сессия: үш дау, үш шешім</a:t>
            </a:r>
            <a:endParaRPr 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047750" y="3051795"/>
            <a:ext cx="5206975" cy="5096842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352550" y="3413745"/>
            <a:ext cx="505711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195" dirty="0">
                <a:solidFill>
                  <a:srgbClr val="0A2540">
                    <a:alpha val="55000"/>
                  </a:srgbClr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КЕЙС А</a:t>
            </a:r>
            <a:endParaRPr lang="en-US" sz="1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352550" y="3889995"/>
            <a:ext cx="4735296" cy="13110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237"/>
              </a:lnSpc>
              <a:buNone/>
            </a:pPr>
            <a:r>
              <a:rPr lang="en-US" sz="2475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Детектор 80% көрсетті, студент өзім жаздым дейді. Дәлел қайда?</a:t>
            </a:r>
            <a:endParaRPr lang="en-US" sz="247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540475" y="3051795"/>
            <a:ext cx="5206975" cy="5096842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845275" y="3413745"/>
            <a:ext cx="505711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195" dirty="0">
                <a:solidFill>
                  <a:srgbClr val="0A2540">
                    <a:alpha val="55000"/>
                  </a:srgbClr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КЕЙС Б</a:t>
            </a:r>
            <a:endParaRPr lang="en-US" sz="1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845275" y="3889995"/>
            <a:ext cx="4735296" cy="8867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237"/>
              </a:lnSpc>
              <a:buNone/>
            </a:pPr>
            <a:r>
              <a:rPr lang="en-US" sz="2475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Оқытушы жазба жұмысын AI-мен бағалады. Бұл рұқсат па?</a:t>
            </a:r>
            <a:endParaRPr lang="en-US" sz="247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2033200" y="3051795"/>
            <a:ext cx="5207050" cy="5096842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338000" y="3413745"/>
            <a:ext cx="505719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195" dirty="0">
                <a:solidFill>
                  <a:srgbClr val="0A2540">
                    <a:alpha val="55000"/>
                  </a:srgbClr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КЕЙС В</a:t>
            </a:r>
            <a:endParaRPr lang="en-US" sz="1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2338000" y="3889995"/>
            <a:ext cx="4735373" cy="13110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237"/>
              </a:lnSpc>
              <a:buNone/>
            </a:pPr>
            <a:r>
              <a:rPr lang="en-US" sz="2475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Магистрант зерттеу деректерін ашық чатботқа жүктеді. Салдары?</a:t>
            </a:r>
            <a:endParaRPr lang="en-US" sz="247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1047750" y="8529638"/>
            <a:ext cx="16192500" cy="957263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390650" y="8877300"/>
            <a:ext cx="1952580" cy="30003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10B98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ИНТЕРАКТИВ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470523" y="8815388"/>
            <a:ext cx="13022796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391"/>
              </a:lnSpc>
              <a:buNone/>
            </a:pPr>
            <a:r>
              <a:rPr lang="en-US" sz="2250" dirty="0">
                <a:solidFill>
                  <a:srgbClr val="F3F0D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Әр команда бір кейсті алады: регламенттің қай қадамы, қандай шара, кім шешеді — 60 секунд.</a:t>
            </a:r>
            <a:endParaRPr lang="en-US" sz="2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0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600200"/>
            <a:ext cx="16192500" cy="19050"/>
          </a:xfrm>
          <a:prstGeom prst="rect">
            <a:avLst/>
          </a:prstGeom>
          <a:solidFill>
            <a:srgbClr val="0A2540">
              <a:alpha val="18000"/>
            </a:srgbClr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47750" y="1009650"/>
            <a:ext cx="368988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273" dirty="0">
                <a:solidFill>
                  <a:srgbClr val="0A2540">
                    <a:alpha val="55000"/>
                  </a:srgbClr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V БЛОК · РЕЗОЛЮЦИЯ</a:t>
            </a:r>
            <a:endParaRPr lang="en-US" sz="1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47750" y="1962150"/>
            <a:ext cx="17811750" cy="708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7103"/>
              </a:lnSpc>
              <a:buNone/>
            </a:pPr>
            <a:r>
              <a:rPr lang="en-US" sz="4800" b="1" dirty="0">
                <a:solidFill>
                  <a:srgbClr val="0A2540"/>
                </a:solidFill>
                <a:latin typeface="Arial" panose="020B0604020202020204" pitchFamily="34" charset="0"/>
                <a:ea typeface="Georgia" pitchFamily="34" charset="-122"/>
                <a:cs typeface="Arial" panose="020B0604020202020204" pitchFamily="34" charset="0"/>
              </a:rPr>
              <a:t>AI Policy резолюциясының жобасы</a:t>
            </a:r>
            <a:endParaRPr 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47750" y="2975595"/>
            <a:ext cx="372889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0B98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01</a:t>
            </a: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534939" y="2975595"/>
            <a:ext cx="7562632" cy="8867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237"/>
              </a:lnSpc>
              <a:buNone/>
            </a:pPr>
            <a:r>
              <a:rPr lang="en-US" sz="2475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Университеттің AI саясаты Ғылыми кеңесте бекітіледі</a:t>
            </a:r>
            <a:endParaRPr lang="en-US" sz="247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9410700" y="2975595"/>
            <a:ext cx="372889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0B98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02</a:t>
            </a: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897889" y="2975595"/>
            <a:ext cx="7562632" cy="8867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237"/>
              </a:lnSpc>
              <a:buNone/>
            </a:pPr>
            <a:r>
              <a:rPr lang="en-US" sz="2475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Барлық силлабуста «AI режимі» бөлімі міндетті болады</a:t>
            </a:r>
            <a:endParaRPr lang="en-US" sz="247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047750" y="4795168"/>
            <a:ext cx="372889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0B98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03</a:t>
            </a: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534939" y="4795168"/>
            <a:ext cx="7562632" cy="8867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237"/>
              </a:lnSpc>
              <a:buNone/>
            </a:pPr>
            <a:r>
              <a:rPr lang="en-US" sz="2475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Дербес және құпия деректер ашық құралдарға жүктелмейді</a:t>
            </a:r>
            <a:endParaRPr lang="en-US" sz="247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9410700" y="4795168"/>
            <a:ext cx="372889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0B98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04</a:t>
            </a: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9897889" y="4795168"/>
            <a:ext cx="7474305" cy="4624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237"/>
              </a:lnSpc>
              <a:buNone/>
            </a:pPr>
            <a:r>
              <a:rPr lang="en-US" sz="2475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Дау бес қадамдық регламент бойынша қаралады</a:t>
            </a:r>
            <a:endParaRPr lang="en-US" sz="247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047750" y="6614740"/>
            <a:ext cx="372889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0B98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05</a:t>
            </a: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534939" y="6614740"/>
            <a:ext cx="7562632" cy="8867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237"/>
              </a:lnSpc>
              <a:buNone/>
            </a:pPr>
            <a:r>
              <a:rPr lang="en-US" sz="2475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Оқытушылар мен студенттерге оқыту бағдарламасы іске қосылады</a:t>
            </a:r>
            <a:endParaRPr lang="en-US" sz="247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9410700" y="6614740"/>
            <a:ext cx="372889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0B98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06</a:t>
            </a: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9897889" y="6614740"/>
            <a:ext cx="5951547" cy="4624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237"/>
              </a:lnSpc>
              <a:buNone/>
            </a:pPr>
            <a:r>
              <a:rPr lang="en-US" sz="2475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Саясат жылына бір рет қайта қаралады</a:t>
            </a:r>
            <a:endParaRPr lang="en-US" sz="247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1047750" y="8529638"/>
            <a:ext cx="16192500" cy="957263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390650" y="8877300"/>
            <a:ext cx="1917219" cy="30003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10B98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ДАУЫС БЕРУ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438376" y="8815388"/>
            <a:ext cx="13213355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391"/>
              </a:lnSpc>
              <a:buNone/>
            </a:pPr>
            <a:r>
              <a:rPr lang="en-US" sz="2250" dirty="0">
                <a:solidFill>
                  <a:srgbClr val="F3F0D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Әр тұжырым бойынша: қолдаймыз · түзетеміз · кейінге қалдырамыз. Түзетулер хаттамаға енеді.</a:t>
            </a:r>
            <a:endParaRPr lang="en-US" sz="2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978</Words>
  <Application>Microsoft Macintosh PowerPoint</Application>
  <PresentationFormat>Custom</PresentationFormat>
  <Paragraphs>206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Beimbet Daribayev</cp:lastModifiedBy>
  <cp:revision>35</cp:revision>
  <dcterms:created xsi:type="dcterms:W3CDTF">2026-08-26T02:00:31Z</dcterms:created>
  <dcterms:modified xsi:type="dcterms:W3CDTF">2026-08-26T03:15:37Z</dcterms:modified>
</cp:coreProperties>
</file>