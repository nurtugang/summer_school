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271"/>
  </p:normalViewPr>
  <p:slideViewPr>
    <p:cSldViewPr snapToGrid="0" snapToObjects="1">
      <p:cViewPr varScale="1">
        <p:scale>
          <a:sx n="81" d="100"/>
          <a:sy n="81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838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52500" y="3609529"/>
            <a:ext cx="157162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477"/>
              </a:lnSpc>
              <a:buNone/>
            </a:pPr>
            <a:r>
              <a:rPr lang="en-US" sz="7200" b="1" kern="0" spc="-144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 AI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4912519"/>
            <a:ext cx="12263438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71"/>
              </a:lnSpc>
              <a:buNone/>
            </a:pPr>
            <a:r>
              <a:rPr lang="en-US" sz="3300" dirty="0">
                <a:solidFill>
                  <a:srgbClr val="BFD4E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Қауіпсіздік, дербес деректер, құпиялылық және авторлық құқық: прецеденттер, заңдар, практикум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2500" y="8391525"/>
            <a:ext cx="16383000" cy="19050"/>
          </a:xfrm>
          <a:prstGeom prst="rect">
            <a:avLst/>
          </a:prstGeom>
          <a:solidFill>
            <a:srgbClr val="1E4468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8967623"/>
            <a:ext cx="4922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Дәрібаев Бейімбет Серікұлы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Дәрістің жоспары</a:t>
            </a:r>
            <a:endParaRPr lang="en-US" sz="480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2500" y="2147888"/>
            <a:ext cx="5206975" cy="47625"/>
          </a:xfrm>
          <a:prstGeom prst="rect">
            <a:avLst/>
          </a:prstGeom>
          <a:solidFill>
            <a:srgbClr val="005088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2213"/>
            <a:ext cx="57276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5088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БЛОК 1 · 10 МИН</a:t>
            </a:r>
            <a:endParaRPr lang="en-US" sz="210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500" y="3000375"/>
            <a:ext cx="572767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29"/>
              </a:lnSpc>
              <a:buNone/>
            </a:pPr>
            <a:r>
              <a:rPr lang="en-US" sz="3300" b="1" dirty="0">
                <a:solidFill>
                  <a:srgbClr val="0A2540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Құқықтық шеңбер</a:t>
            </a:r>
            <a:endParaRPr lang="en-US" sz="330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3731865"/>
            <a:ext cx="5363184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33506B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Дербес деректер туралы заң, GDPR, EU AI Act, NIST шеңбері</a:t>
            </a:r>
            <a:endParaRPr lang="en-US" sz="255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40475" y="2147888"/>
            <a:ext cx="5206975" cy="47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40475" y="2462213"/>
            <a:ext cx="57276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B4761A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БЛОК 2 · 16 МИН</a:t>
            </a:r>
            <a:endParaRPr lang="en-US" sz="210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40475" y="3000375"/>
            <a:ext cx="572767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29"/>
              </a:lnSpc>
              <a:buNone/>
            </a:pPr>
            <a:r>
              <a:rPr lang="en-US" sz="3300" b="1" dirty="0">
                <a:solidFill>
                  <a:srgbClr val="0A2540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Төрт прецедент</a:t>
            </a:r>
            <a:endParaRPr lang="en-US" sz="330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40475" y="3731865"/>
            <a:ext cx="5363184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33506B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Кодтың ағуы, дерекқордың ашылуы, чат-боттың жауапкершілігі, авторлық құқық</a:t>
            </a:r>
            <a:endParaRPr lang="en-US" sz="255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128450" y="2147888"/>
            <a:ext cx="5207050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128450" y="2462213"/>
            <a:ext cx="57277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B7A57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БЛОК 3 · 16 МИН</a:t>
            </a:r>
            <a:endParaRPr lang="en-US" sz="210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28450" y="3000375"/>
            <a:ext cx="572775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29"/>
              </a:lnSpc>
              <a:buNone/>
            </a:pPr>
            <a:r>
              <a:rPr lang="en-US" sz="3300" b="1" dirty="0">
                <a:solidFill>
                  <a:srgbClr val="0A2540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Тренажер және практикум</a:t>
            </a:r>
            <a:endParaRPr lang="en-US" sz="330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128450" y="3731865"/>
            <a:ext cx="5363261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33506B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«Деректер бағдаршамы», қауіпсіз промпт, университет чек-листі</a:t>
            </a:r>
            <a:endParaRPr lang="en-US" sz="2550" dirty="0"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Бастапқы сауалнама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2500" y="4008983"/>
            <a:ext cx="16383000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364061"/>
            <a:ext cx="136207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50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01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47950" y="2362201"/>
            <a:ext cx="15128176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Жұмыс міндеттеріңіз үшін ЖИ-ді аптасына бір реттен жиі пайдаланасыз ба?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" y="5866358"/>
            <a:ext cx="16383000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4437608"/>
            <a:ext cx="136207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50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02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47950" y="4708141"/>
            <a:ext cx="13066834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Университетте ЖИ-мен жұмыс регламентін оқығансыз ба?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500" y="6511156"/>
            <a:ext cx="136207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59E0B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03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47950" y="6509296"/>
            <a:ext cx="15128176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Ашық чат-ботқа студенттің немесе әріптестің нақты деректерін жүктеп көрдіңіз бе?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Жауапты ЖИ-дің төрт тірегі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2500" y="2147888"/>
            <a:ext cx="3867150" cy="73771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500" y="2147888"/>
            <a:ext cx="3867150" cy="47625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57300" y="2576513"/>
            <a:ext cx="35833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0050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ТІРЕК 1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7300" y="3095625"/>
            <a:ext cx="358330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Қауіпсіздік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57300" y="3721373"/>
            <a:ext cx="335527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Промпт-инъекция, жалған дереккөз, тексерілмеген шешім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24450" y="2147888"/>
            <a:ext cx="3867150" cy="73771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24450" y="2147888"/>
            <a:ext cx="3867150" cy="47625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29250" y="2576513"/>
            <a:ext cx="35833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0050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ТІРЕК 2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29250" y="3095625"/>
            <a:ext cx="358330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Дербес деректер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29250" y="3721373"/>
            <a:ext cx="335527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Келісім, мақсат, сақтау мерзімі, шекарадан тыс тасымал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296400" y="2147888"/>
            <a:ext cx="3867150" cy="73771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96400" y="2147888"/>
            <a:ext cx="3867150" cy="47625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01200" y="2576513"/>
            <a:ext cx="35833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0050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ТІРЕК 3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0" y="3095625"/>
            <a:ext cx="358330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Құпиялылық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01200" y="3721373"/>
            <a:ext cx="335527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Диалог журналдары, оқытуға пайдалану, ішкі құжаттар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468350" y="2147888"/>
            <a:ext cx="3867150" cy="73771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468350" y="2147888"/>
            <a:ext cx="3867150" cy="47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73150" y="2576513"/>
            <a:ext cx="35833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B476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ТІРЕК 4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73150" y="3095625"/>
            <a:ext cx="358330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Авторлық құқық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73150" y="3721373"/>
            <a:ext cx="335527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Кім автор, кімнің мәтінінде оқытылған, кім жауапты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336" dirty="0">
                <a:solidFill>
                  <a:srgbClr val="B476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 1 · ҚҰҚЫҚТЫҚ ШЕҢБЕР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1452563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Қазақстанның құқықтық негізі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500" y="2571750"/>
            <a:ext cx="163830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2500" y="4218608"/>
            <a:ext cx="7281267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2876550"/>
            <a:ext cx="7118705" cy="1094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«Дербес деректер және оларды қорғау туралы» ҚР Заңы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33767" y="4218608"/>
            <a:ext cx="9101733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33767" y="2876550"/>
            <a:ext cx="9374785" cy="1094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Өңдеу тек субъектінің келісімімен және нақты мақсатта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2500" y="5987355"/>
            <a:ext cx="7281267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2500" y="4513883"/>
            <a:ext cx="7118705" cy="1225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Шекарадан тыс тасымалдау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33767" y="5987355"/>
            <a:ext cx="9101733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33767" y="4513883"/>
            <a:ext cx="9374785" cy="1225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Шетелдік серверге жүктеу — қорғау деңгейі қамтылған жағдайда ғана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2500" y="7756178"/>
            <a:ext cx="7281267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2500" y="6282630"/>
            <a:ext cx="7118705" cy="1225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Әкімшілік жауапкершілік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33767" y="7756178"/>
            <a:ext cx="9101733" cy="9525"/>
          </a:xfrm>
          <a:prstGeom prst="rect">
            <a:avLst/>
          </a:prstGeom>
          <a:solidFill>
            <a:srgbClr val="D6DDE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33767" y="6282630"/>
            <a:ext cx="9374785" cy="1225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Заңсыз жинау және таратуға айыппұл; жауапкершілік — операторда, яғни университетте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2500" y="8051453"/>
            <a:ext cx="7118705" cy="1225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ЖИ реттеу бастамалары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33767" y="8051453"/>
            <a:ext cx="9374785" cy="1225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3350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Ашықтық, адами бақылау және жауапкершілік қағидаттарына бағдар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Халықаралық реттеу логикасы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2500" y="2147888"/>
            <a:ext cx="5232350" cy="7377113"/>
          </a:xfrm>
          <a:prstGeom prst="rect">
            <a:avLst/>
          </a:prstGeom>
          <a:solidFill>
            <a:srgbClr val="0E2F52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95400" y="2566988"/>
            <a:ext cx="500120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9E0B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GDPR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95400" y="3443288"/>
            <a:ext cx="500120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Деректі қорғайды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95400" y="4076700"/>
            <a:ext cx="46829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BFD4E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Заңды негіз, минимизация, өшіру құқығы. Айыппұл — жылдық айналымның пайызымен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27750" y="2147888"/>
            <a:ext cx="5232425" cy="7377113"/>
          </a:xfrm>
          <a:prstGeom prst="rect">
            <a:avLst/>
          </a:prstGeom>
          <a:solidFill>
            <a:srgbClr val="0E2F52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70650" y="2566988"/>
            <a:ext cx="500128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59E0B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EU AI Act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70650" y="3443288"/>
            <a:ext cx="5001287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Жүйені саралайды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70650" y="4076700"/>
            <a:ext cx="468302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BFD4E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Тәуекел деңгейлері: тыйым салынған, жоғары, шектеулі. Білім беру мен бағалау — жоғары тәуекел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103075" y="2147888"/>
            <a:ext cx="5232350" cy="7377113"/>
          </a:xfrm>
          <a:prstGeom prst="rect">
            <a:avLst/>
          </a:prstGeom>
          <a:solidFill>
            <a:srgbClr val="0E2F52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445975" y="2566988"/>
            <a:ext cx="500120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NIST AI RMF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445975" y="3443288"/>
            <a:ext cx="500120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Процесті құрады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445975" y="4076700"/>
            <a:ext cx="46829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BFD4E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Govern — Map — Measure — Manage. Университет саясаты үшін дайын қаңқа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336" dirty="0">
                <a:solidFill>
                  <a:srgbClr val="B476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ПРЕЦЕДЕНТ 1 · ҚҰПИЯЛЫЛЫҚ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1452563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Ішкі кодтың чат-ботқа жүктелуі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87629" y="2571750"/>
            <a:ext cx="9525" cy="6953250"/>
          </a:xfrm>
          <a:prstGeom prst="rect">
            <a:avLst/>
          </a:prstGeom>
          <a:solidFill>
            <a:srgbClr val="C9C4AC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500" y="257175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Сала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299085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Электроника, ІТ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3686175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Жыл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4105275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2023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500" y="480060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Себеп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2500" y="521970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Қызметкердің жақсы ниеті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63904" y="2571750"/>
            <a:ext cx="9961744" cy="199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Инженерлер жабық бастапқы кодты және ішкі кездесу жазбасын жария чат-ботқа жүктеді — қатені тезірек табу үшін. Компания генеративті ЖИ-ді ішкі контурда шектеді.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63904" y="4850011"/>
            <a:ext cx="9671596" cy="194592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25854" y="5173861"/>
            <a:ext cx="98424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УНИВЕРСИТЕТ ҮШІН САБАҚ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25854" y="5597723"/>
            <a:ext cx="9216127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Тыйым емес, рұқсат етілген құралдар тізімі мен жабық контур жұмыс істейді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36" dirty="0">
                <a:solidFill>
                  <a:srgbClr val="B4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ПРЕЦЕДЕНТ 2 · ҚАУІПСІЗДІК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2563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ЖИ-сервистің дерекқоры ашық қалды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987629" y="2571750"/>
            <a:ext cx="9525" cy="6953250"/>
          </a:xfrm>
          <a:prstGeom prst="rect">
            <a:avLst/>
          </a:prstGeom>
          <a:solidFill>
            <a:srgbClr val="C9C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257175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299085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ЖИ-платформа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686175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Жыл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4105275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480060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Салдары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521970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Реттеушілердің шектеуі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63904" y="2571750"/>
            <a:ext cx="9961744" cy="199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Аутентификациясыз ашық дерекқорда пайдаланушы сұраныстарының журналы мен қызметтік кілттер табылды. Ағу пайдаланушының қатесінен емес, сервистің конфигурациясынан туды.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7663904" y="4850011"/>
            <a:ext cx="9671596" cy="194592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25854" y="5173861"/>
            <a:ext cx="98424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 ҮШІН САБАҚ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25854" y="5597723"/>
            <a:ext cx="9216127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Провайдердің қауіпсіздігі біздің бақылауымызда емес — тәуекелді кіріс деректі шектеу арқылы басқарамыз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36" dirty="0">
                <a:solidFill>
                  <a:srgbClr val="B4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ПРЕЦЕДЕНТ 3 · ЖАУАПКЕРШІЛІК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2563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Чат-боттың қатесі үшін ұйым жауапты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987629" y="2571750"/>
            <a:ext cx="9525" cy="6953250"/>
          </a:xfrm>
          <a:prstGeom prst="rect">
            <a:avLst/>
          </a:prstGeom>
          <a:solidFill>
            <a:srgbClr val="C9C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257175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299085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Әуе тасымалы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686175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Жыл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4105275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2024, Канада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480060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Шешім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521970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Зиянды өтеу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63904" y="2571750"/>
            <a:ext cx="9961744" cy="199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жеңілдік шарттарын дұрыс емес түсіндірді. Трибунал «бот — бөлек субъект» деген уәжді қабылдамады: сайттағы ақпарат үшін жауапкершілік ұйымда қалады.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7663904" y="4850011"/>
            <a:ext cx="9671596" cy="194592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25854" y="5173861"/>
            <a:ext cx="98424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 ҮШІН САБАҚ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25854" y="5597723"/>
            <a:ext cx="9216127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Студентке шығатын әр бот — ресми ақпарат арнасы, мазмұны тексерілуі керек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36" dirty="0">
                <a:solidFill>
                  <a:srgbClr val="B4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ПРЕЦЕДЕНТ 4 · АКАДЕМИЯЛЫҚ АДАЛДЫҚ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2563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Жоқ дереккөздер: галлюцинация бағасы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987629" y="2571750"/>
            <a:ext cx="9525" cy="6953250"/>
          </a:xfrm>
          <a:prstGeom prst="rect">
            <a:avLst/>
          </a:prstGeom>
          <a:solidFill>
            <a:srgbClr val="C9C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257175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299085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Заң практикасы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686175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Жыл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4105275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2023, АҚШ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4800600"/>
            <a:ext cx="60099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Салдары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5219700"/>
            <a:ext cx="60099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Санкция мен репутация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63904" y="2571750"/>
            <a:ext cx="9961744" cy="150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 құжатындағы прецеденттер модель ойлап шығарған жалған сілтемелер болды. Тексеру міндеті адамда қалғандықтан, жаза да адамға түсті.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7663904" y="4361408"/>
            <a:ext cx="9671596" cy="194592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25854" y="4685258"/>
            <a:ext cx="98424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 ҮШІН САБАҚ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25854" y="5109121"/>
            <a:ext cx="9216127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Дереккөзсіз ЖИ мәтіні — жоба, ғылыми нәтиже емес. DOI тексерілмесе, сілтеме жоқ</a:t>
            </a:r>
            <a:endParaRPr lang="en-US" sz="2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Авторлық құқық: қалыптасқан тәжірибе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71688"/>
            <a:ext cx="802005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2500" y="2071688"/>
            <a:ext cx="8020050" cy="47625"/>
          </a:xfrm>
          <a:prstGeom prst="rect">
            <a:avLst/>
          </a:prstGeom>
          <a:solidFill>
            <a:srgbClr val="005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33500" y="2500313"/>
            <a:ext cx="798385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 машина жасаған нәтиже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3079403"/>
            <a:ext cx="747579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Адами авторлықсыз туынды авторлық құқықпен қорғалмайды — тіркеуден бас тартылады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15450" y="2071688"/>
            <a:ext cx="802005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15450" y="2071688"/>
            <a:ext cx="8020050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6450" y="2500313"/>
            <a:ext cx="798385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Адамның үлесі бар туынды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696450" y="3079403"/>
            <a:ext cx="747579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Іріктеу, өңдеу, композиция қорғалады; жеке ЖИ-фрагменттер қорғалмайды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69794"/>
            <a:ext cx="802005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2500" y="5969794"/>
            <a:ext cx="8020050" cy="47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33500" y="6398419"/>
            <a:ext cx="798385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Оқыту деректері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33500" y="6977509"/>
            <a:ext cx="747579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Баспалар мен фотобанктердің талаптары — дауласу қаупі әлі жабылмаған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15450" y="5969794"/>
            <a:ext cx="8020050" cy="3555206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15450" y="5969794"/>
            <a:ext cx="8020050" cy="47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96450" y="6398419"/>
            <a:ext cx="798385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 ережесі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696450" y="6977509"/>
            <a:ext cx="747579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BF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Ресми материалда ЖИ пайдалану ашып көрсетіледі; бренд элементтері толық ЖИ-мен жасалмайды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66750"/>
            <a:ext cx="630336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36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ИНТЕРАКТИВТІ ТРЕНАЖЕР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62000" y="1109663"/>
            <a:ext cx="6303362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Деректер бағдаршамы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762000" y="2090738"/>
            <a:ext cx="9389566" cy="762476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1100" y="2509838"/>
            <a:ext cx="94065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005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ЖАҒДАЙ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81100" y="3086100"/>
            <a:ext cx="8807907" cy="5157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3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Студенттердің ЖСН, телефон нөмірі және мекенжайы бар Excel файлын жүктеп, «топтастырып бер» деп сұрау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81100" y="8472488"/>
            <a:ext cx="2736131" cy="823913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5308" y="8720138"/>
            <a:ext cx="26277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Қызыл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088681" y="8472488"/>
            <a:ext cx="2736205" cy="8239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42888" y="8720138"/>
            <a:ext cx="262779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Сары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996336" y="8472488"/>
            <a:ext cx="2736131" cy="82391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50544" y="8720138"/>
            <a:ext cx="26277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42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Жасыл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570666" y="2090738"/>
            <a:ext cx="6955334" cy="7624762"/>
          </a:xfrm>
          <a:prstGeom prst="rect">
            <a:avLst/>
          </a:prstGeom>
          <a:solidFill>
            <a:srgbClr val="0E2F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32616" y="2452688"/>
            <a:ext cx="68545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8F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ДАУЫС БЕРУ БЕЛГІЛЕРІ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32616" y="3005138"/>
            <a:ext cx="1123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Қызыл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151816" y="2971800"/>
            <a:ext cx="534401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жұдырық — ешқашан жүктеуге болмайды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932616" y="3561383"/>
            <a:ext cx="1123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Сары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151816" y="3528045"/>
            <a:ext cx="516260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бір қол — жабық контур, деидентификация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932616" y="4464323"/>
            <a:ext cx="1123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Жасыл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151816" y="4430985"/>
            <a:ext cx="418027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екі қол — еркін жүктеуге болады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Бағдаршам ережелері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71688"/>
            <a:ext cx="5257800" cy="7453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2500" y="2071688"/>
            <a:ext cx="5257800" cy="76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6350" y="2528888"/>
            <a:ext cx="50711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Қызыл зона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76350" y="3176588"/>
            <a:ext cx="474840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ЖСН, байланыс деректері, емтихан ведомосы, медициналық мәлімет, жарияланбаған қолжазба, ішкі қаржы құжаттары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76350" y="8858250"/>
            <a:ext cx="50711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Жүктеуге болмайды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15100" y="2071688"/>
            <a:ext cx="5257800" cy="7453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15100" y="2071688"/>
            <a:ext cx="5257800" cy="76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38950" y="2528888"/>
            <a:ext cx="50711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4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Сары зона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38950" y="3176588"/>
            <a:ext cx="474840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Деидентификацияланған сауалнамалар, өз жарияланымға дайын мәтіні, жалпы формулировкадағы ішкі регламент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38950" y="8858250"/>
            <a:ext cx="50711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4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Жабық контур, тексерумен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77700" y="2071688"/>
            <a:ext cx="5257800" cy="7453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077700" y="2071688"/>
            <a:ext cx="52578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401550" y="2528888"/>
            <a:ext cx="50711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Жасыл зона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401550" y="3176588"/>
            <a:ext cx="474840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Ашық жарияланымдар, ашық статистика, әдістемелік жоспар құру, код үлгісі, аударма мен редакциялау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401550" y="8858250"/>
            <a:ext cx="50711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Еркін пайдалану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Практикум: промптты қайта жазу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71688"/>
            <a:ext cx="7981950" cy="7453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2500" y="2071688"/>
            <a:ext cx="7981950" cy="76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2566988"/>
            <a:ext cx="78581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ҚЫЗЫЛ НҰСҚА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71600" y="3124200"/>
            <a:ext cx="7358063" cy="5425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23"/>
              </a:lnSpc>
              <a:buNone/>
            </a:pPr>
            <a:r>
              <a:rPr lang="en-US" sz="24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«Мына тізімді талда: Айдана Н., ЖСН 0304…, GPA 2.1, тапсырмалары кешіктірілген. Оны оқудан шығару керек пе?»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8759205"/>
            <a:ext cx="78581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Идентификатор + үлгерім + шешімді ЖИ-ге беру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53550" y="2071688"/>
            <a:ext cx="7981950" cy="7453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53550" y="2071688"/>
            <a:ext cx="798195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72650" y="2566988"/>
            <a:ext cx="78581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52" dirty="0">
                <a:solidFill>
                  <a:srgbClr val="0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ЖАСЫЛ НҰСҚА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772650" y="3124200"/>
            <a:ext cx="7358063" cy="5425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23"/>
              </a:lnSpc>
              <a:buNone/>
            </a:pPr>
            <a:r>
              <a:rPr lang="en-US" sz="24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«Сен — академиялық кеңесші. GPA 2.0–2.5 аралығындағы студентке қолдау жоспарының құрылымын ұсын: 5 қадам, әрқайсысы 2 сөйлем.»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772650" y="8759205"/>
            <a:ext cx="78581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Дерек тазартылған, рөл мен формат нақты, шешім адамда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 қадам: университеттің чек-листі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776538"/>
            <a:ext cx="9357792" cy="9525"/>
          </a:xfrm>
          <a:prstGeom prst="rect">
            <a:avLst/>
          </a:prstGeom>
          <a:solidFill>
            <a:srgbClr val="1E4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2071688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3550" y="2143125"/>
            <a:ext cx="819692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Әр кафедра өз қызыл зонасын жазбаша анықтайды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3738563"/>
            <a:ext cx="9357792" cy="9525"/>
          </a:xfrm>
          <a:prstGeom prst="rect">
            <a:avLst/>
          </a:prstGeom>
          <a:solidFill>
            <a:srgbClr val="1E4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2500" y="3033713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33550" y="3105150"/>
            <a:ext cx="9065657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Рұқсат етілген ЖИ-құралдардың тізімі мен жабық контур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4700588"/>
            <a:ext cx="9357792" cy="9525"/>
          </a:xfrm>
          <a:prstGeom prst="rect">
            <a:avLst/>
          </a:prstGeom>
          <a:solidFill>
            <a:srgbClr val="1E4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2500" y="3995738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33550" y="4067175"/>
            <a:ext cx="8781373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Оқу және ғылыми жұмыста ЖИ-ді ашып көрсету тәртібі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5662613"/>
            <a:ext cx="9357792" cy="9525"/>
          </a:xfrm>
          <a:prstGeom prst="rect">
            <a:avLst/>
          </a:prstGeom>
          <a:solidFill>
            <a:srgbClr val="1E4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4957763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3550" y="5029200"/>
            <a:ext cx="920080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Студентке шығатын боттар мен мәтіндерге адами тексеру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2500" y="5919788"/>
            <a:ext cx="6096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733550" y="5991225"/>
            <a:ext cx="8026011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Жылына екі рет оқыту және инциденттерді талдау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810</Words>
  <Application>Microsoft Macintosh PowerPoint</Application>
  <PresentationFormat>Custom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Beimbet Daribayev</cp:lastModifiedBy>
  <cp:revision>17</cp:revision>
  <dcterms:created xsi:type="dcterms:W3CDTF">2026-08-26T01:44:00Z</dcterms:created>
  <dcterms:modified xsi:type="dcterms:W3CDTF">2026-08-26T03:13:00Z</dcterms:modified>
</cp:coreProperties>
</file>