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566220"/>
            <a:ext cx="16187738" cy="3306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866"/>
              </a:lnSpc>
              <a:buNone/>
            </a:pPr>
            <a:r>
              <a:rPr lang="en-US" sz="7800" b="1" spc="-7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AI-инструменты для научных исследований и академического письма</a:t>
            </a:r>
            <a:endParaRPr lang="en-US" sz="7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1 · ФОРМАТ ПРАКТИКИ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считаем «материалом» в этой практике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8274346" cy="1597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не размывать задачу — конкретный формат результата: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аннотированный список из 2-3 источников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узкому исследовательскому вопросу. Не полный литобзор, не диссертация — компактный, проверяемый артефакт.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4218384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104084"/>
            <a:ext cx="82743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каждый источник: библиографическая ссылка → 2-3 предложения о содержании → одна пометка «что здесь нужно проверить руками».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5606951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5492651"/>
            <a:ext cx="8274346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Такой объём выбран не случайно: он достаточен, чтобы пройти весь цикл (поиск → синтез → верификация → этика) за практическую часть занятия, и достаточно мал, чтобы каждый шаг можно было сделать осознанно, а не для галочки.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843096" y="2316163"/>
            <a:ext cx="7492405" cy="472311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843096" y="2316163"/>
            <a:ext cx="76200" cy="472311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8396" y="2697163"/>
            <a:ext cx="723580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338396" y="3071813"/>
            <a:ext cx="723580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Автор, год, издание, название источника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338396" y="3668713"/>
            <a:ext cx="6578005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8396" y="3903663"/>
            <a:ext cx="723580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338396" y="4278313"/>
            <a:ext cx="723580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предложения о содержании источника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338396" y="4875213"/>
            <a:ext cx="6578005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8396" y="5110163"/>
            <a:ext cx="723580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ПРОВЕРИТЬ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338396" y="5484813"/>
            <a:ext cx="6775345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Конкретная деталь, которую нужно проверить руками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ПОИСК ИСТОЧНИКОВ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Классический поиск и его ограничение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144610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Scopus и Web of Science остаются золотым стандартом научного поиска — с проверенной индексацией и метриками цитирования. Но доступ к ним платный и есть далеко не у каждого преподавателя вне подписки вуза — это реальное, а не гипотетическое ограничение.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819029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704729"/>
            <a:ext cx="144610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 остаётся при этом бесплатной и общедоступной альтернативой с достаточно широким охватом источников для большинства прикладных задач подготовки к занятию.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4820940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706640"/>
            <a:ext cx="144610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в блоке — три конкретных бесплатных инструмента, которые расширяют базовый поиск: Google Scholar Labs, NotebookLM и Connected Papers — каждый решает свою отдельную задачу, не дублируя друг друга.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7791450"/>
            <a:ext cx="5257800" cy="1771650"/>
          </a:xfrm>
          <a:prstGeom prst="rect">
            <a:avLst/>
          </a:prstGeom>
          <a:solidFill>
            <a:srgbClr val="F6E7E1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7791450"/>
            <a:ext cx="5257800" cy="7620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8172450"/>
            <a:ext cx="5029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Scopus / Web of Science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" y="8629650"/>
            <a:ext cx="5029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Платно — не у всех есть доступ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515100" y="7791450"/>
            <a:ext cx="5257800" cy="177165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5100" y="7791450"/>
            <a:ext cx="52578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8172450"/>
            <a:ext cx="5029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58000" y="8629650"/>
            <a:ext cx="5029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 и общедоступно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077700" y="7791450"/>
            <a:ext cx="5257800" cy="177165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26951" y="8102600"/>
            <a:ext cx="501523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Далее в блоке →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26951" y="8566150"/>
            <a:ext cx="469607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Labs · NotebookLM · Connected Papers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ПОИСК ИСТОЧНИКОВ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 Labs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8274346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Экспериментальная функция, запущенная в ноябре 2025 года: вместо поиска по ключевым словам можно задать вопрос обычным языком (например, не «эффективность AI-заданий», а «насколько устойчивы AI-aware задания к списыванию через ChatGPT»).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452338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409083"/>
            <a:ext cx="8274346" cy="1535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анализирует вопрос с нескольких сторон, выбирает ограниченное число статей, которые считает наиболее релевантными, и </a:t>
            </a:r>
            <a:pPr algn="l" indent="0" marL="0">
              <a:lnSpc>
                <a:spcPct val="124947"/>
              </a:lnSpc>
              <a:buNone/>
            </a:pPr>
            <a:r>
              <a:rPr lang="en-US" sz="2025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объясняет, почему выбрала именно их </a:t>
            </a:r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это не просто список, а список с обоснованием выбора.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6249789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6135489"/>
            <a:ext cx="8274346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Важная практическая оговорка, которую стоит явно сказать залу: сервис сам предупреждает, что перед использованием источника нужно прочитать статью полностью и убедиться, что ИИ-выжимка точна — то есть это инструмент поиска, а не замена чтения.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843096" y="2316163"/>
            <a:ext cx="7492405" cy="15748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16145" y="2551113"/>
            <a:ext cx="76409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на естественном языке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116145" y="2970213"/>
            <a:ext cx="71546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«Насколько устойчивы AI-aware задания к списыванию через ChatGPT?»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843096" y="5656262"/>
            <a:ext cx="3650952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3096" y="4081463"/>
            <a:ext cx="3650952" cy="571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3096" y="4081463"/>
            <a:ext cx="9525" cy="15811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87698" y="4081463"/>
            <a:ext cx="9525" cy="15811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7095" y="4367213"/>
            <a:ext cx="345724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 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97095" y="4779963"/>
            <a:ext cx="32372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подошла: обоснование даёт система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684548" y="5656262"/>
            <a:ext cx="3650952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13684548" y="4081463"/>
            <a:ext cx="3650952" cy="571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Shape 19"/>
          <p:cNvSpPr/>
          <p:nvPr/>
        </p:nvSpPr>
        <p:spPr>
          <a:xfrm>
            <a:off x="13684548" y="4081463"/>
            <a:ext cx="9525" cy="15811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29151" y="4081463"/>
            <a:ext cx="9525" cy="15811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13938548" y="4367213"/>
            <a:ext cx="345724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Статья 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938548" y="4779963"/>
            <a:ext cx="32372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подошла: обоснование даёт система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52500" y="90233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9220200"/>
            <a:ext cx="16874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scholar.googleblog.com — Scholar Labs: An AI Powered Scholar Search, 2025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ПОИСК ИСТОЧНИКОВ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для синтеза источников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8274346" cy="1610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Отличие от Google Scholar Labs принципиальное: NotebookLM не ищет источники сам, а работает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 тем, что вы туда загрузили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своими файлами, ссылками или найденными через поиск статьями.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4231084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116784"/>
            <a:ext cx="8274346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значит: сначала находите источники (Google Scholar, Scholar Labs), затем загружаете их в NotebookLM и уже там просите синтезировать, сравнить или объяснить — модель отвечает, опираясь строго на загруженные материалы, а не на общие знания.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6392962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6278662"/>
            <a:ext cx="8274346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Прямое практическое следствие: если явно попросить модель отвечать только по источникам блокнота и сообщать, если факта в них нет — риск придуманных деталей резко снижается, потому что модель не выходит за пределы предоставленного текста.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843096" y="4394101"/>
            <a:ext cx="3377903" cy="124460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843096" y="4394101"/>
            <a:ext cx="76200" cy="12446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35327" y="4698901"/>
            <a:ext cx="286964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Загруженные источники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449598" y="4819551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4021098" y="4387751"/>
            <a:ext cx="3314402" cy="12573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44432" y="4698901"/>
            <a:ext cx="2867734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/ ответ модели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83430" y="5797451"/>
            <a:ext cx="42117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не выходит за эти рамки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2 · ПОИСК ИСТОЧНИКОВ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Papers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827434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инструмент, работающий иначе, чем текстовый поиск: вы вводите одну известную вам «стартовую» статью — и инструмент строит граф из десятков связанных работ, анализируя пул примерно из 50 000 статей вокруг неё.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4150519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036219"/>
            <a:ext cx="8274346" cy="1535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связи — не прямое цитирование, а </a:t>
            </a:r>
            <a:pPr algn="l" indent="0" marL="0">
              <a:lnSpc>
                <a:spcPct val="124947"/>
              </a:lnSpc>
              <a:buNone/>
            </a:pPr>
            <a:r>
              <a:rPr lang="en-US" sz="2025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сходство </a:t>
            </a:r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две статьи, ссылающиеся на одни и те же источники, окажутся рядом на графе, даже если не цитируют друг друга напрямую. Размер точки — число цитирований, цвет — год публикации.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87692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5762625"/>
            <a:ext cx="8274346" cy="2275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 полезные функции: «Prior works» показывает основополагающие более ранние работы в этой области, «Derivative works» — то, что написано позже с опорой на найденный кластер. Сервис бесплатный, без обязательной регистрации, с лимитом в несколько графов в месяц на бесплатном тарифе.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589298" y="4948436"/>
            <a:ext cx="161925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 rot="3599999">
            <a:off x="13184486" y="5649592"/>
            <a:ext cx="1619249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2" name="Shape 10"/>
          <p:cNvSpPr/>
          <p:nvPr/>
        </p:nvSpPr>
        <p:spPr>
          <a:xfrm rot="7200001">
            <a:off x="12374861" y="5649592"/>
            <a:ext cx="1619249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 rot="10800000">
            <a:off x="11970048" y="4948436"/>
            <a:ext cx="1619250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4" name="Shape 12"/>
          <p:cNvSpPr/>
          <p:nvPr/>
        </p:nvSpPr>
        <p:spPr>
          <a:xfrm rot="-7200001">
            <a:off x="12374861" y="4247280"/>
            <a:ext cx="1619249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5" name="Shape 13"/>
          <p:cNvSpPr/>
          <p:nvPr/>
        </p:nvSpPr>
        <p:spPr>
          <a:xfrm rot="-3599999">
            <a:off x="13184486" y="4247280"/>
            <a:ext cx="1619249" cy="1905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208298" y="4567436"/>
            <a:ext cx="762000" cy="762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60548" y="5424686"/>
            <a:ext cx="431800" cy="431800"/>
          </a:xfrm>
          <a:prstGeom prst="rect">
            <a:avLst/>
          </a:prstGeom>
          <a:solidFill>
            <a:srgbClr val="F6E7E1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246523" y="6139061"/>
            <a:ext cx="317500" cy="31750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27273" y="6139061"/>
            <a:ext cx="374650" cy="374650"/>
          </a:xfrm>
          <a:prstGeom prst="rect">
            <a:avLst/>
          </a:prstGeom>
          <a:solidFill>
            <a:srgbClr val="F6E7E1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46223" y="4824611"/>
            <a:ext cx="260350" cy="2603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7748" y="3386336"/>
            <a:ext cx="336550" cy="336550"/>
          </a:xfrm>
          <a:prstGeom prst="rect">
            <a:avLst/>
          </a:prstGeom>
          <a:solidFill>
            <a:srgbClr val="F6E7E1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256048" y="3405386"/>
            <a:ext cx="298450" cy="298450"/>
          </a:xfrm>
          <a:prstGeom prst="rect">
            <a:avLst/>
          </a:prstGeom>
          <a:solidFill>
            <a:srgbClr val="E4EDE6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98698" y="5424686"/>
            <a:ext cx="1981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стартовая статья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791422" y="7215386"/>
            <a:ext cx="75957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узла — число цитирований · цвет — год публикации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90233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9220200"/>
            <a:ext cx="16874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casrai.org — Connected Papers guide, 2026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3 · ПРОВЕРКА И ЭТИКА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Верификация: главный риск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8274346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не гипотетическая: в январе 2026 года анализ 4841 статьи, принятой на NeurIPS 2025 — одной из самых престижных конференций по ИИ — выявил минимум 100 подтверждённых придуманных ссылок в 53 работах, прошедших полноценное рецензирование 3-5 экспертами.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4523383"/>
            <a:ext cx="95250" cy="9525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409083"/>
            <a:ext cx="8274346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отдельном эксперименте ChatGPT сгенерировал 178 ссылок для research proposals, из которых 69 не имели рабочего DOI — то есть попросту не существовали в заявленном виде.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870575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5756275"/>
            <a:ext cx="8274346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правило проверки: любую ссылку, полученную от ИИ, нужно проверить по DOI на сайте doi.org, прежде чем включать её в свой список источников — это буквально одно действие, которое отсекает большинство фабрикаций.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843096" y="2316163"/>
            <a:ext cx="7492405" cy="25400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30445" y="2703513"/>
            <a:ext cx="7389476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7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pPr algn="l" indent="0" marL="0">
              <a:lnSpc>
                <a:spcPct val="86705"/>
              </a:lnSpc>
              <a:buNone/>
            </a:pPr>
            <a:r>
              <a:rPr lang="en-US" sz="3000" b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178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10230445" y="3770313"/>
            <a:ext cx="691923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ссылок ChatGPT для research proposals — без рабочего DOI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843096" y="5199063"/>
            <a:ext cx="3371552" cy="812800"/>
          </a:xfrm>
          <a:prstGeom prst="rect">
            <a:avLst/>
          </a:prstGeom>
          <a:ln w="6350">
            <a:solidFill>
              <a:srgbClr val="D9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89372" y="5434013"/>
            <a:ext cx="30789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от ИИ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405148" y="5430838"/>
            <a:ext cx="3810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900448" y="5205413"/>
            <a:ext cx="3435053" cy="800100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3900448" y="5205413"/>
            <a:ext cx="76200" cy="8001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8" name="Text 16"/>
          <p:cNvSpPr/>
          <p:nvPr/>
        </p:nvSpPr>
        <p:spPr>
          <a:xfrm>
            <a:off x="14115622" y="5434013"/>
            <a:ext cx="30809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на doi.org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90233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9220200"/>
            <a:ext cx="16874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sciencedirect.com — Hallucinations in generative AI: A threat to scholarly integrity, 2026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3 · ПРОВЕРКА И ЭТИКА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Исследовательская этика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30463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316163"/>
            <a:ext cx="14461046" cy="12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Базовое правило, которое прямо формулируют академические издания: использование ИИ-инструментов должно быть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открыто указано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работе, если они применялись для анализа данных, написания текста или любых других значимых этапов исследования.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831729"/>
            <a:ext cx="95250" cy="95250"/>
          </a:xfrm>
          <a:prstGeom prst="rect">
            <a:avLst/>
          </a:prstGeom>
          <a:solidFill>
            <a:srgbClr val="B4472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717429"/>
            <a:ext cx="14461046" cy="12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формальность: непроверенные ИИ-ссылки, использованные как данные (например, в обзоре литературы) без верификации автором, рассматриваются исследователями academic integrity как потенциальное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B44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научной добросовестности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 по злому умыслу, а из-за небрежности.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5232996"/>
            <a:ext cx="95250" cy="9525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5118696"/>
            <a:ext cx="144610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минимум для студента/преподавателя: пометка, какие именно этапы подготовки материала прошли через ИИ (поиск, синтез, черновик текста), и подтверждение, что все ссылки лично проверены — это и есть операционализация «этики» из абстрактного принципа в конкретное действие.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7255669"/>
            <a:ext cx="16383000" cy="1539081"/>
          </a:xfrm>
          <a:prstGeom prst="rect">
            <a:avLst/>
          </a:prstGeom>
          <a:solidFill>
            <a:srgbClr val="E4E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7255669"/>
            <a:ext cx="76200" cy="1539081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7598569"/>
            <a:ext cx="1593265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«Использован ИИ: поиск источников (Google Scholar Labs), синтез (NotebookLM). Все ссылки проверены вручную.»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90233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9220200"/>
            <a:ext cx="16874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journal.iitu.edu.kz — Этика использования генеративного ИИ, 2025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4 · ИНСТРУМЕНТЫ БРАУЗЕРА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Полезные расширения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6734175"/>
            <a:ext cx="5207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354263"/>
            <a:ext cx="5207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7" name="Shape 5"/>
          <p:cNvSpPr/>
          <p:nvPr/>
        </p:nvSpPr>
        <p:spPr>
          <a:xfrm>
            <a:off x="6153150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8" name="Text 6"/>
          <p:cNvSpPr/>
          <p:nvPr/>
        </p:nvSpPr>
        <p:spPr>
          <a:xfrm>
            <a:off x="1301750" y="2811463"/>
            <a:ext cx="49593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Grammarly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1750" y="3370263"/>
            <a:ext cx="4643755" cy="302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проверка грамматики и орфографии, бесплатная версия покрывает большинство типичных ошибок в академическом тексте на английском (и работает как расширение браузера, проверяя текст прямо там, где вы его пишете).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540500" y="6734175"/>
            <a:ext cx="5207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1" name="Shape 9"/>
          <p:cNvSpPr/>
          <p:nvPr/>
        </p:nvSpPr>
        <p:spPr>
          <a:xfrm>
            <a:off x="6540500" y="2354263"/>
            <a:ext cx="5207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40500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41150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889750" y="2811463"/>
            <a:ext cx="49593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 Button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89750" y="3370263"/>
            <a:ext cx="4643755" cy="2275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браузера, позволяющее найти полный текст и цитирование статьи прямо с любой открытой веб-страницы, без необходимости открывать отдельно Google Scholar.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2128500" y="6734175"/>
            <a:ext cx="5207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28500" y="2354263"/>
            <a:ext cx="5207000" cy="76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28500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29151" y="2354263"/>
            <a:ext cx="9525" cy="4386263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0" name="Text 18"/>
          <p:cNvSpPr/>
          <p:nvPr/>
        </p:nvSpPr>
        <p:spPr>
          <a:xfrm>
            <a:off x="12477750" y="2811463"/>
            <a:ext cx="495935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 PDF Reader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77750" y="3370263"/>
            <a:ext cx="4643755" cy="190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47"/>
              </a:lnSpc>
              <a:buNone/>
            </a:pPr>
            <a:r>
              <a:rPr lang="en-US" sz="2025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для чтения и аннотирования PDF прямо в браузере, с возможностью выделять и комментировать текст без скачивания отдельного ПО.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52500" y="9023350"/>
            <a:ext cx="16383000" cy="9525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9220200"/>
            <a:ext cx="16874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scholar.googleblog.com — Mark it up! Highlight and comment in Scholar PDF Reader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5 · ПЕРЕХОД К ПРАКТИКЕ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289050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09"/>
              </a:lnSpc>
              <a:buNone/>
            </a:pPr>
            <a:r>
              <a:rPr lang="en-US" sz="4800" b="1" spc="-48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практике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4847431"/>
            <a:ext cx="3438525" cy="1803400"/>
          </a:xfrm>
          <a:prstGeom prst="rect">
            <a:avLst/>
          </a:prstGeom>
          <a:ln w="6350">
            <a:solidFill>
              <a:srgbClr val="8FB79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1884" y="5196682"/>
            <a:ext cx="3139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источники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01785" y="5653882"/>
            <a:ext cx="293995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Scholar / Scholar Labs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657725" y="5552281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67325" y="5009356"/>
            <a:ext cx="3438525" cy="1479550"/>
          </a:xfrm>
          <a:prstGeom prst="rect">
            <a:avLst/>
          </a:prstGeom>
          <a:ln w="6350">
            <a:solidFill>
              <a:srgbClr val="8FB79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6709" y="5358607"/>
            <a:ext cx="3139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Синтезировать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416709" y="5815807"/>
            <a:ext cx="31397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NotebookLM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972550" y="5552281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82150" y="4847431"/>
            <a:ext cx="3438525" cy="1803400"/>
          </a:xfrm>
          <a:prstGeom prst="rect">
            <a:avLst/>
          </a:prstGeom>
          <a:ln w="6350">
            <a:solidFill>
              <a:srgbClr val="8FB79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1535" y="5196682"/>
            <a:ext cx="3139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31436" y="5653882"/>
            <a:ext cx="293995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аннотированный список (слайд 2)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287375" y="5552281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896975" y="5009356"/>
            <a:ext cx="3438525" cy="1479550"/>
          </a:xfrm>
          <a:prstGeom prst="rect">
            <a:avLst/>
          </a:prstGeom>
          <a:ln w="6350">
            <a:solidFill>
              <a:srgbClr val="8FB79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46360" y="5358607"/>
            <a:ext cx="31397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4046360" y="5815807"/>
            <a:ext cx="31397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8FB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по DOI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2026-08-27T20:39:44Z</dcterms:created>
  <dcterms:modified xsi:type="dcterms:W3CDTF">2026-08-27T20:39:44Z</dcterms:modified>
</cp:coreProperties>
</file>