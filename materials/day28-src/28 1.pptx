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810893"/>
            <a:ext cx="180213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8FB7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АВГУСТА — ASSESSMENT, FEEDBACK &amp; RESEARCH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4490343"/>
            <a:ext cx="15697200" cy="2138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80"/>
              </a:lnSpc>
              <a:buNone/>
            </a:pPr>
            <a:r>
              <a:rPr lang="en-US" sz="7800" b="1" spc="-78" kern="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Оценивание результатов обучения в эпоху Generative AI</a:t>
            </a:r>
            <a:endParaRPr lang="en-US" sz="7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1 · ПРОБЛЕМА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08100"/>
            <a:ext cx="18021300" cy="68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09"/>
              </a:lnSpc>
              <a:buNone/>
            </a:pPr>
            <a:r>
              <a:rPr lang="en-US" sz="4800" b="1" spc="-48" kern="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Работа, неотличимая от написанной ИИ, — не гипотеза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297113"/>
            <a:ext cx="1667827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217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исследовании с двумя университетами проверяющие в целом не смогли отличить работы с ИИ-вкладом от работ без него.</a:t>
            </a:r>
            <a:endParaRPr lang="en-US" sz="2175" dirty="0"/>
          </a:p>
        </p:txBody>
      </p:sp>
      <p:sp>
        <p:nvSpPr>
          <p:cNvPr id="5" name="Text 3"/>
          <p:cNvSpPr/>
          <p:nvPr/>
        </p:nvSpPr>
        <p:spPr>
          <a:xfrm>
            <a:off x="952500" y="3299024"/>
            <a:ext cx="1781175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21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Значит, задание, которое оценивает только текст на выходе, больше не измеряет то, что должно измерять.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52500" y="4066679"/>
            <a:ext cx="7524750" cy="5153521"/>
          </a:xfrm>
          <a:prstGeom prst="rect">
            <a:avLst/>
          </a:prstGeom>
          <a:ln w="6350">
            <a:solidFill>
              <a:srgbClr val="D9D3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9850" y="4454029"/>
            <a:ext cx="74250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 студента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339850" y="5139829"/>
            <a:ext cx="6750050" cy="190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9" name="Shape 7"/>
          <p:cNvSpPr/>
          <p:nvPr/>
        </p:nvSpPr>
        <p:spPr>
          <a:xfrm>
            <a:off x="1339850" y="5292229"/>
            <a:ext cx="6210002" cy="190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0" name="Shape 8"/>
          <p:cNvSpPr/>
          <p:nvPr/>
        </p:nvSpPr>
        <p:spPr>
          <a:xfrm>
            <a:off x="1339850" y="5444629"/>
            <a:ext cx="6479977" cy="190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1" name="Shape 9"/>
          <p:cNvSpPr/>
          <p:nvPr/>
        </p:nvSpPr>
        <p:spPr>
          <a:xfrm>
            <a:off x="1339850" y="5597029"/>
            <a:ext cx="5399981" cy="190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2" name="Text 10"/>
          <p:cNvSpPr/>
          <p:nvPr/>
        </p:nvSpPr>
        <p:spPr>
          <a:xfrm>
            <a:off x="8974435" y="6294140"/>
            <a:ext cx="41523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B4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9810750" y="4066679"/>
            <a:ext cx="7524750" cy="5153521"/>
          </a:xfrm>
          <a:prstGeom prst="rect">
            <a:avLst/>
          </a:prstGeom>
          <a:ln w="6350">
            <a:solidFill>
              <a:srgbClr val="D9D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98101" y="4454029"/>
            <a:ext cx="74250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 ИИ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0198101" y="5139829"/>
            <a:ext cx="6750050" cy="190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98101" y="5292229"/>
            <a:ext cx="6210002" cy="190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98101" y="5444629"/>
            <a:ext cx="6479977" cy="190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98101" y="5597029"/>
            <a:ext cx="5399981" cy="190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92202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bjet.onlinelibrary.wiley.com — Kofinas et al., 2025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2 · ПРИНЦИПЫ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08100"/>
            <a:ext cx="18021300" cy="68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09"/>
              </a:lnSpc>
              <a:buNone/>
            </a:pPr>
            <a:r>
              <a:rPr lang="en-US" sz="4800" b="1" spc="-48" kern="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AI-aware задание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297113"/>
            <a:ext cx="1781175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217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запрет и не игнорирование ИИ — осознанное включение его в дизайн задания.</a:t>
            </a:r>
            <a:endParaRPr lang="en-US" sz="2175" dirty="0"/>
          </a:p>
        </p:txBody>
      </p:sp>
      <p:sp>
        <p:nvSpPr>
          <p:cNvPr id="5" name="Text 3"/>
          <p:cNvSpPr/>
          <p:nvPr/>
        </p:nvSpPr>
        <p:spPr>
          <a:xfrm>
            <a:off x="952500" y="2912368"/>
            <a:ext cx="1667827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21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из фреймворков описывает разрыв между тем, что старое задание измеряет, и тем, что реально нужно проверить — это называют «разрывом валидности оценивания», ставшим заметнее именно из-за генеративного ИИ.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52500" y="4177804"/>
            <a:ext cx="2679700" cy="3251200"/>
          </a:xfrm>
          <a:prstGeom prst="rect">
            <a:avLst/>
          </a:prstGeom>
          <a:ln w="6350">
            <a:solidFill>
              <a:srgbClr val="D9D3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86520" y="5631954"/>
            <a:ext cx="1332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Задание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4013200" y="5543054"/>
            <a:ext cx="533400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851400" y="7457579"/>
            <a:ext cx="26797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0" name="Shape 8"/>
          <p:cNvSpPr/>
          <p:nvPr/>
        </p:nvSpPr>
        <p:spPr>
          <a:xfrm>
            <a:off x="4851400" y="4142879"/>
            <a:ext cx="2679700" cy="762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1" name="Shape 9"/>
          <p:cNvSpPr/>
          <p:nvPr/>
        </p:nvSpPr>
        <p:spPr>
          <a:xfrm>
            <a:off x="4851400" y="4142879"/>
            <a:ext cx="9525" cy="33210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2" name="Shape 10"/>
          <p:cNvSpPr/>
          <p:nvPr/>
        </p:nvSpPr>
        <p:spPr>
          <a:xfrm>
            <a:off x="7524750" y="4142879"/>
            <a:ext cx="9525" cy="33210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3" name="Text 11"/>
          <p:cNvSpPr/>
          <p:nvPr/>
        </p:nvSpPr>
        <p:spPr>
          <a:xfrm>
            <a:off x="5585421" y="5441454"/>
            <a:ext cx="1332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Задание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5576193" y="5936754"/>
            <a:ext cx="135312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элемент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52500" y="92202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pmc.ncbi.nlm.nih.gov — Designing AI-resilient assessment, 2025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2 · ПРИНЦИПЫ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08100"/>
            <a:ext cx="18021300" cy="68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09"/>
              </a:lnSpc>
              <a:buNone/>
            </a:pPr>
            <a:r>
              <a:rPr lang="en-US" sz="4800" b="1" spc="-48" kern="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 assessment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297113"/>
            <a:ext cx="1781175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217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Задание привязано к реальному контексту/данным, а не к абстрактному условию.</a:t>
            </a:r>
            <a:endParaRPr lang="en-US" sz="2175" dirty="0"/>
          </a:p>
        </p:txBody>
      </p:sp>
      <p:sp>
        <p:nvSpPr>
          <p:cNvPr id="5" name="Text 3"/>
          <p:cNvSpPr/>
          <p:nvPr/>
        </p:nvSpPr>
        <p:spPr>
          <a:xfrm>
            <a:off x="952500" y="2912368"/>
            <a:ext cx="1667827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21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Практика: студентам разрешают открыто использовать ИИ, но в контролируемых условиях, с обучением его применению, в заданиях, построенных на совместных и итеративных проектах — их сложно воспроизвести одним запросом к ИИ.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52500" y="4104779"/>
            <a:ext cx="8039100" cy="2080220"/>
          </a:xfrm>
          <a:prstGeom prst="rect">
            <a:avLst/>
          </a:prstGeom>
          <a:solidFill>
            <a:srgbClr val="F6E7E1"/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4104779"/>
            <a:ext cx="8039100" cy="76200"/>
          </a:xfrm>
          <a:prstGeom prst="rect">
            <a:avLst/>
          </a:prstGeom>
          <a:solidFill>
            <a:srgbClr val="B4472A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4561979"/>
            <a:ext cx="80048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Общее условие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33500" y="5057279"/>
            <a:ext cx="8004810" cy="41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Абстрактная задача без привязки к реальным данным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296400" y="4104779"/>
            <a:ext cx="8039100" cy="2080220"/>
          </a:xfrm>
          <a:prstGeom prst="rect">
            <a:avLst/>
          </a:prstGeom>
          <a:solidFill>
            <a:srgbClr val="E4EDE6"/>
          </a:solidFill>
          <a:ln/>
        </p:spPr>
      </p:sp>
      <p:sp>
        <p:nvSpPr>
          <p:cNvPr id="11" name="Shape 9"/>
          <p:cNvSpPr/>
          <p:nvPr/>
        </p:nvSpPr>
        <p:spPr>
          <a:xfrm>
            <a:off x="9296400" y="4104779"/>
            <a:ext cx="8039100" cy="762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2" name="Text 10"/>
          <p:cNvSpPr/>
          <p:nvPr/>
        </p:nvSpPr>
        <p:spPr>
          <a:xfrm>
            <a:off x="9677400" y="4561979"/>
            <a:ext cx="80048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Личные / реальные данные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677400" y="5057279"/>
            <a:ext cx="7495413" cy="78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Задание строится на данных, специфичных для студента или контекста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52500" y="92202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reflect.ucl.ac.uk — Williams, 2025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2 · ПРИНЦИПЫ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08100"/>
            <a:ext cx="18021300" cy="68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09"/>
              </a:lnSpc>
              <a:buNone/>
            </a:pPr>
            <a:r>
              <a:rPr lang="en-US" sz="4800" b="1" spc="-48" kern="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Process-based assessment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297113"/>
            <a:ext cx="1781175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217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Оценивается не только финальный текст, а этапы: набросок → правка → защита.</a:t>
            </a:r>
            <a:endParaRPr lang="en-US" sz="2175" dirty="0"/>
          </a:p>
        </p:txBody>
      </p:sp>
      <p:sp>
        <p:nvSpPr>
          <p:cNvPr id="5" name="Text 3"/>
          <p:cNvSpPr/>
          <p:nvPr/>
        </p:nvSpPr>
        <p:spPr>
          <a:xfrm>
            <a:off x="952500" y="2950468"/>
            <a:ext cx="1667827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21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Рабочий пример: студенты сдают поэтапные материалы (набросок с обоснованием → документ с аннотированными решениями → финальный отчёт), затем проходят устную защиту перед комиссией.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1866900" y="4142879"/>
            <a:ext cx="266700" cy="2667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7" name="Text 5"/>
          <p:cNvSpPr/>
          <p:nvPr/>
        </p:nvSpPr>
        <p:spPr>
          <a:xfrm>
            <a:off x="1388467" y="4561979"/>
            <a:ext cx="122346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Набросок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3048000" y="4266704"/>
            <a:ext cx="2667000" cy="190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9" name="Shape 7"/>
          <p:cNvSpPr/>
          <p:nvPr/>
        </p:nvSpPr>
        <p:spPr>
          <a:xfrm>
            <a:off x="6629400" y="4142879"/>
            <a:ext cx="266700" cy="2667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0" name="Text 8"/>
          <p:cNvSpPr/>
          <p:nvPr/>
        </p:nvSpPr>
        <p:spPr>
          <a:xfrm>
            <a:off x="6300391" y="4561979"/>
            <a:ext cx="92471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Правка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7810500" y="4266704"/>
            <a:ext cx="2667000" cy="190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91900" y="4142879"/>
            <a:ext cx="266700" cy="2667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3" name="Text 11"/>
          <p:cNvSpPr/>
          <p:nvPr/>
        </p:nvSpPr>
        <p:spPr>
          <a:xfrm>
            <a:off x="11115477" y="4561979"/>
            <a:ext cx="81954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573000" y="4266704"/>
            <a:ext cx="2667000" cy="190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5" name="Shape 13"/>
          <p:cNvSpPr/>
          <p:nvPr/>
        </p:nvSpPr>
        <p:spPr>
          <a:xfrm>
            <a:off x="16154400" y="4142879"/>
            <a:ext cx="266700" cy="2667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6" name="Text 14"/>
          <p:cNvSpPr/>
          <p:nvPr/>
        </p:nvSpPr>
        <p:spPr>
          <a:xfrm>
            <a:off x="15812294" y="4561979"/>
            <a:ext cx="95091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52500" y="5285879"/>
            <a:ext cx="17811750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Подход не «ИИ-пруф», а «ИИ-устойчивый» — снижает риск, не даёт абсолютной гарантии.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952500" y="92202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pmc.ncbi.nlm.nih.gov — Designing AI-resilient assessment, 2025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2 · ПРИНЦИПЫ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08100"/>
            <a:ext cx="18021300" cy="68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09"/>
              </a:lnSpc>
              <a:buNone/>
            </a:pPr>
            <a:r>
              <a:rPr lang="en-US" sz="4800" b="1" spc="-48" kern="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рычага трансформации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297113"/>
            <a:ext cx="8077200" cy="1517650"/>
          </a:xfrm>
          <a:prstGeom prst="rect">
            <a:avLst/>
          </a:prstGeom>
          <a:ln w="635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01750" y="2608263"/>
            <a:ext cx="811657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01750" y="3160713"/>
            <a:ext cx="81165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46"/>
              </a:lnSpc>
              <a:buNone/>
            </a:pPr>
            <a:r>
              <a:rPr lang="en-US" sz="225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Устная защита выбора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258300" y="2297113"/>
            <a:ext cx="8077200" cy="1517650"/>
          </a:xfrm>
          <a:prstGeom prst="rect">
            <a:avLst/>
          </a:prstGeom>
          <a:ln w="6350">
            <a:solidFill>
              <a:srgbClr val="D9D3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7550" y="2608263"/>
            <a:ext cx="811657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607550" y="3160713"/>
            <a:ext cx="81165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46"/>
              </a:lnSpc>
              <a:buNone/>
            </a:pPr>
            <a:r>
              <a:rPr lang="en-US" sz="225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ошибки в готовом ИИ-ответе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4043363"/>
            <a:ext cx="8077200" cy="1517650"/>
          </a:xfrm>
          <a:prstGeom prst="rect">
            <a:avLst/>
          </a:prstGeom>
          <a:ln w="6350">
            <a:solidFill>
              <a:srgbClr val="D9D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01750" y="4354513"/>
            <a:ext cx="811657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301750" y="4906963"/>
            <a:ext cx="81165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46"/>
              </a:lnSpc>
              <a:buNone/>
            </a:pPr>
            <a:r>
              <a:rPr lang="en-US" sz="225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Привязка к личным/локальным данным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258300" y="4043363"/>
            <a:ext cx="8077200" cy="1517650"/>
          </a:xfrm>
          <a:prstGeom prst="rect">
            <a:avLst/>
          </a:prstGeom>
          <a:ln w="6350">
            <a:solidFill>
              <a:srgbClr val="D9D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7550" y="4354513"/>
            <a:ext cx="811657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607550" y="4906963"/>
            <a:ext cx="81165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46"/>
              </a:lnSpc>
              <a:buNone/>
            </a:pPr>
            <a:r>
              <a:rPr lang="en-US" sz="225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Этапность (черновик → правка → финал)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52500" y="5865813"/>
            <a:ext cx="1781175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21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Устная защита ценится потому, что оценивает понимание человека, а не только текст на бумаге.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952500" y="92202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journal.aldinhe.ac.uk — When AI writes the doctoral thesis, 2026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3 · ПРИМЕР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08100"/>
            <a:ext cx="18021300" cy="68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09"/>
              </a:lnSpc>
              <a:buNone/>
            </a:pPr>
            <a:r>
              <a:rPr lang="en-US" sz="4800" b="1" spc="-48" kern="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пример: было → стало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35213"/>
            <a:ext cx="8039100" cy="7227888"/>
          </a:xfrm>
          <a:prstGeom prst="rect">
            <a:avLst/>
          </a:prstGeom>
          <a:solidFill>
            <a:srgbClr val="F6E7E1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335213"/>
            <a:ext cx="8039100" cy="76200"/>
          </a:xfrm>
          <a:prstGeom prst="rect">
            <a:avLst/>
          </a:prstGeom>
          <a:solidFill>
            <a:srgbClr val="B4472A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830513"/>
            <a:ext cx="79209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71600" y="3363913"/>
            <a:ext cx="7416927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217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«Напишите эссе объёмом 1500 слов о причинах Первой мировой войны.»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9296400" y="2335213"/>
            <a:ext cx="8039100" cy="7227888"/>
          </a:xfrm>
          <a:prstGeom prst="rect">
            <a:avLst/>
          </a:prstGeom>
          <a:solidFill>
            <a:srgbClr val="E4EDE6"/>
          </a:solidFill>
          <a:ln/>
        </p:spPr>
      </p:sp>
      <p:sp>
        <p:nvSpPr>
          <p:cNvPr id="9" name="Shape 7"/>
          <p:cNvSpPr/>
          <p:nvPr/>
        </p:nvSpPr>
        <p:spPr>
          <a:xfrm>
            <a:off x="9296400" y="2335213"/>
            <a:ext cx="8039100" cy="762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0" name="Text 8"/>
          <p:cNvSpPr/>
          <p:nvPr/>
        </p:nvSpPr>
        <p:spPr>
          <a:xfrm>
            <a:off x="9715500" y="2830513"/>
            <a:ext cx="79209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715500" y="3363913"/>
            <a:ext cx="7416927" cy="1984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217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«Соберите три источника по теме недели, составьте набросок тезиса с обоснованием выбора источников, доработайте его по фидбэку и защитите финальный тезис устно за 5 минут перед группой.» </a:t>
            </a:r>
            <a:pPr algn="l" indent="0" marL="0">
              <a:lnSpc>
                <a:spcPct val="124286"/>
              </a:lnSpc>
              <a:buNone/>
            </a:pPr>
            <a:r>
              <a:rPr lang="en-US" sz="2175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(добавлены этапность и устная защита)</a:t>
            </a:r>
            <a:endParaRPr lang="en-US" sz="21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3 · ПРИМЕР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08100"/>
            <a:ext cx="18021300" cy="68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09"/>
              </a:lnSpc>
              <a:buNone/>
            </a:pPr>
            <a:r>
              <a:rPr lang="en-US" sz="4800" b="1" spc="-48" kern="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 ИИ в процессе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297113"/>
            <a:ext cx="1667827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217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не решает задачу целиком за человека — он либо помогает готовить черновик, либо проверяет уже готовое решение на прочность.</a:t>
            </a:r>
            <a:endParaRPr lang="en-US" sz="2175" dirty="0"/>
          </a:p>
        </p:txBody>
      </p:sp>
      <p:sp>
        <p:nvSpPr>
          <p:cNvPr id="5" name="Text 3"/>
          <p:cNvSpPr/>
          <p:nvPr/>
        </p:nvSpPr>
        <p:spPr>
          <a:xfrm>
            <a:off x="952500" y="3299024"/>
            <a:ext cx="1667827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21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практике студентов просят прямо обозначать, использовали ли они ИИ как исполнителя их указаний или как участника формирования самой идеи — и объяснять эту роль отдельно.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52500" y="4529535"/>
            <a:ext cx="8039100" cy="1675110"/>
          </a:xfrm>
          <a:prstGeom prst="rect">
            <a:avLst/>
          </a:prstGeom>
          <a:ln w="6350">
            <a:solidFill>
              <a:srgbClr val="D9D3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9850" y="4916885"/>
            <a:ext cx="799084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Роль: черновик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339850" y="5443935"/>
            <a:ext cx="7990840" cy="41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помогает подготовить первый вариант решения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296400" y="4529535"/>
            <a:ext cx="8039100" cy="1675110"/>
          </a:xfrm>
          <a:prstGeom prst="rect">
            <a:avLst/>
          </a:prstGeom>
          <a:ln w="6350">
            <a:solidFill>
              <a:srgbClr val="D9D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83750" y="4916885"/>
            <a:ext cx="799084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4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Роль: проверка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683750" y="5443935"/>
            <a:ext cx="7990840" cy="41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проверяет уже готовое решение на прочность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52500" y="92202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idaho.pressbooks.pub — Process-Oriented Assessment, 2026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4 · РИСКИ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08100"/>
            <a:ext cx="18021300" cy="68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09"/>
              </a:lnSpc>
              <a:buNone/>
            </a:pPr>
            <a:r>
              <a:rPr lang="en-US" sz="4800" b="1" spc="-48" kern="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Типичные ошибки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411413"/>
            <a:ext cx="340816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4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445716" y="2411413"/>
            <a:ext cx="8460036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Переусложнение задания вместо точечного изменения.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52500" y="3186113"/>
            <a:ext cx="340816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4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445716" y="3186113"/>
            <a:ext cx="10190678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Потеря контроля человека над решением на промежуточном этапе.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52500" y="3960813"/>
            <a:ext cx="340816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4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445716" y="3960813"/>
            <a:ext cx="9197717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Задание всё ещё закрывается одним запросом к ИИ целиком.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5 · ИНСТРУМЕНТ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08100"/>
            <a:ext cx="18021300" cy="68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09"/>
              </a:lnSpc>
              <a:buNone/>
            </a:pPr>
            <a:r>
              <a:rPr lang="en-US" sz="4800" b="1" spc="-48" kern="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Notebook: что это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3605213"/>
            <a:ext cx="2977257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259013"/>
            <a:ext cx="2977257" cy="762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259013"/>
            <a:ext cx="9525" cy="13525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7" name="Shape 5"/>
          <p:cNvSpPr/>
          <p:nvPr/>
        </p:nvSpPr>
        <p:spPr>
          <a:xfrm>
            <a:off x="3923407" y="2259013"/>
            <a:ext cx="9525" cy="13525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8" name="Text 6"/>
          <p:cNvSpPr/>
          <p:nvPr/>
        </p:nvSpPr>
        <p:spPr>
          <a:xfrm>
            <a:off x="1263650" y="2601913"/>
            <a:ext cx="259045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Notebook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63650" y="3027363"/>
            <a:ext cx="2590453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(NotebookLM)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2500" y="3840163"/>
            <a:ext cx="16678275" cy="78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NotebookLM (Gemini Notebook) — ИИ-инструмент, который отвечает и создаёт материалы только на основе загруженных пользователем документов, а не открытого интернета.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52500" y="4815483"/>
            <a:ext cx="16678275" cy="78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отличие от Gemini, ChatGPT, Claude и Deepseek, ответы строятся строго по загруженному набору источников, а не по общим знаниям модели.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52500" y="5867004"/>
            <a:ext cx="8096250" cy="882650"/>
          </a:xfrm>
          <a:prstGeom prst="rect">
            <a:avLst/>
          </a:prstGeom>
          <a:solidFill>
            <a:srgbClr val="E4EDE6"/>
          </a:solidFill>
          <a:ln/>
        </p:spPr>
      </p:sp>
      <p:sp>
        <p:nvSpPr>
          <p:cNvPr id="13" name="Text 11"/>
          <p:cNvSpPr/>
          <p:nvPr/>
        </p:nvSpPr>
        <p:spPr>
          <a:xfrm>
            <a:off x="1257300" y="6133704"/>
            <a:ext cx="772953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Возможность добавить и загрузить любые данные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9239250" y="5867004"/>
            <a:ext cx="8096250" cy="882650"/>
          </a:xfrm>
          <a:prstGeom prst="rect">
            <a:avLst/>
          </a:prstGeom>
          <a:solidFill>
            <a:srgbClr val="E4EDE6"/>
          </a:solidFill>
          <a:ln/>
        </p:spPr>
      </p:sp>
      <p:sp>
        <p:nvSpPr>
          <p:cNvPr id="15" name="Text 13"/>
          <p:cNvSpPr/>
          <p:nvPr/>
        </p:nvSpPr>
        <p:spPr>
          <a:xfrm>
            <a:off x="9544050" y="6133704"/>
            <a:ext cx="772953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 литературный обзор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952500" y="6940153"/>
            <a:ext cx="8096250" cy="882650"/>
          </a:xfrm>
          <a:prstGeom prst="rect">
            <a:avLst/>
          </a:prstGeom>
          <a:solidFill>
            <a:srgbClr val="E4EDE6"/>
          </a:solidFill>
          <a:ln/>
        </p:spPr>
      </p:sp>
      <p:sp>
        <p:nvSpPr>
          <p:cNvPr id="17" name="Text 15"/>
          <p:cNvSpPr/>
          <p:nvPr/>
        </p:nvSpPr>
        <p:spPr>
          <a:xfrm>
            <a:off x="1257300" y="7206853"/>
            <a:ext cx="772953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Более широкое контекстное окно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9239250" y="6940153"/>
            <a:ext cx="8096250" cy="882650"/>
          </a:xfrm>
          <a:prstGeom prst="rect">
            <a:avLst/>
          </a:prstGeom>
          <a:solidFill>
            <a:srgbClr val="E4EDE6"/>
          </a:solidFill>
          <a:ln/>
        </p:spPr>
      </p:sp>
      <p:sp>
        <p:nvSpPr>
          <p:cNvPr id="19" name="Text 17"/>
          <p:cNvSpPr/>
          <p:nvPr/>
        </p:nvSpPr>
        <p:spPr>
          <a:xfrm>
            <a:off x="9544050" y="7206853"/>
            <a:ext cx="772953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разных медиа одним кликом</a:t>
            </a:r>
            <a:endParaRPr lang="en-US" sz="20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5 · ИНСТРУМЕНТ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08100"/>
            <a:ext cx="18021300" cy="68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09"/>
              </a:lnSpc>
              <a:buNone/>
            </a:pPr>
            <a:r>
              <a:rPr lang="en-US" sz="4800" b="1" spc="-48" kern="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Переход к практике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297113"/>
            <a:ext cx="1781175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217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Загружаем свои материалы в Gemini Notebook (NotebookLM).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952500" y="3179068"/>
            <a:ext cx="4749800" cy="1384300"/>
          </a:xfrm>
          <a:prstGeom prst="rect">
            <a:avLst/>
          </a:prstGeom>
          <a:ln w="6350">
            <a:solidFill>
              <a:srgbClr val="D9D3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1095" y="3642618"/>
            <a:ext cx="437261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Материалы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007100" y="3179068"/>
            <a:ext cx="533400" cy="142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769100" y="3179068"/>
            <a:ext cx="4749800" cy="1384300"/>
          </a:xfrm>
          <a:prstGeom prst="rect">
            <a:avLst/>
          </a:prstGeom>
          <a:ln w="6350">
            <a:solidFill>
              <a:srgbClr val="D9D3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57695" y="3642618"/>
            <a:ext cx="437261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Промпт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1823700" y="3179068"/>
            <a:ext cx="533400" cy="142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12585700" y="4557018"/>
            <a:ext cx="47498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2" name="Shape 10"/>
          <p:cNvSpPr/>
          <p:nvPr/>
        </p:nvSpPr>
        <p:spPr>
          <a:xfrm>
            <a:off x="12585700" y="3179068"/>
            <a:ext cx="4749800" cy="762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3" name="Shape 11"/>
          <p:cNvSpPr/>
          <p:nvPr/>
        </p:nvSpPr>
        <p:spPr>
          <a:xfrm>
            <a:off x="12585700" y="3179068"/>
            <a:ext cx="9525" cy="138430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4" name="Shape 12"/>
          <p:cNvSpPr/>
          <p:nvPr/>
        </p:nvSpPr>
        <p:spPr>
          <a:xfrm>
            <a:off x="17329151" y="3179068"/>
            <a:ext cx="9525" cy="138430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5" name="Text 13"/>
          <p:cNvSpPr/>
          <p:nvPr/>
        </p:nvSpPr>
        <p:spPr>
          <a:xfrm>
            <a:off x="12774295" y="3712468"/>
            <a:ext cx="437261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2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2026-08-27T20:41:23Z</dcterms:created>
  <dcterms:modified xsi:type="dcterms:W3CDTF">2026-08-27T20:41:23Z</dcterms:modified>
</cp:coreProperties>
</file>