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566220"/>
            <a:ext cx="16187738" cy="3306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866"/>
              </a:lnSpc>
              <a:buNone/>
            </a:pPr>
            <a:r>
              <a:rPr lang="en-US" sz="7800" b="1" spc="-78" kern="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Формирующее оценивание, обратная связь и рубрики с использованием AI.</a:t>
            </a:r>
            <a:endParaRPr lang="en-US" sz="7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08100"/>
            <a:ext cx="1802130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09"/>
              </a:lnSpc>
              <a:buNone/>
            </a:pPr>
            <a:r>
              <a:rPr lang="en-US" sz="4800" b="1" spc="-48" kern="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важно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82838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2259013"/>
            <a:ext cx="16599789" cy="1117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Формирующее оценивание и обратная связь — фундаментальная, годами подтверждённая основа обучения (это не новая идея от ИИ, а классика педагогики: концепция «feedback loop» описана ещё в конце 1990-х и остаётся одной из самых цитируемых моделей в исследованиях обучения).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952500" y="3615135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3491310"/>
            <a:ext cx="16599789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на практике не в ценности идеи, а в ресурсе: содержательная, персональная обратная связь занимает много времени, и именно нехватка времени — главная причина, почему преподаватели её сокращают или упрощают.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52500" y="4487466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4363641"/>
            <a:ext cx="16599789" cy="1117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здесь предлагается не как замена преподавателя, а как способ снять рутинную часть нагрузки, сохранив за человеком финальное решение — это прямо подтверждается исследованиями: рекомендуемая модель — «человек в контуре» (instructor review перед выдачей фидбека студенту).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52500" y="7461250"/>
            <a:ext cx="163830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1" name="Shape 9"/>
          <p:cNvSpPr/>
          <p:nvPr/>
        </p:nvSpPr>
        <p:spPr>
          <a:xfrm>
            <a:off x="952500" y="7677150"/>
            <a:ext cx="3652838" cy="704850"/>
          </a:xfrm>
          <a:prstGeom prst="rect">
            <a:avLst/>
          </a:prstGeom>
          <a:solidFill>
            <a:srgbClr val="F5F2EC"/>
          </a:solidFill>
          <a:ln/>
        </p:spPr>
      </p:sp>
      <p:sp>
        <p:nvSpPr>
          <p:cNvPr id="12" name="Shape 10"/>
          <p:cNvSpPr/>
          <p:nvPr/>
        </p:nvSpPr>
        <p:spPr>
          <a:xfrm>
            <a:off x="952500" y="8375650"/>
            <a:ext cx="3652838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3" name="Shape 11"/>
          <p:cNvSpPr/>
          <p:nvPr/>
        </p:nvSpPr>
        <p:spPr>
          <a:xfrm>
            <a:off x="952500" y="7677150"/>
            <a:ext cx="3652838" cy="76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4" name="Shape 12"/>
          <p:cNvSpPr/>
          <p:nvPr/>
        </p:nvSpPr>
        <p:spPr>
          <a:xfrm>
            <a:off x="952500" y="7677150"/>
            <a:ext cx="9525" cy="7048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5" name="Shape 13"/>
          <p:cNvSpPr/>
          <p:nvPr/>
        </p:nvSpPr>
        <p:spPr>
          <a:xfrm>
            <a:off x="4598987" y="7677150"/>
            <a:ext cx="9525" cy="7048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6" name="Text 14"/>
          <p:cNvSpPr/>
          <p:nvPr/>
        </p:nvSpPr>
        <p:spPr>
          <a:xfrm>
            <a:off x="1569532" y="7905750"/>
            <a:ext cx="241877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студента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738687" y="7677150"/>
            <a:ext cx="4000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5195888" y="7677150"/>
            <a:ext cx="3652838" cy="704850"/>
          </a:xfrm>
          <a:prstGeom prst="rect">
            <a:avLst/>
          </a:prstGeom>
          <a:solidFill>
            <a:srgbClr val="F5F2EC"/>
          </a:solidFill>
          <a:ln/>
        </p:spPr>
      </p:sp>
      <p:sp>
        <p:nvSpPr>
          <p:cNvPr id="19" name="Shape 17"/>
          <p:cNvSpPr/>
          <p:nvPr/>
        </p:nvSpPr>
        <p:spPr>
          <a:xfrm>
            <a:off x="5195888" y="8375650"/>
            <a:ext cx="3652838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0" name="Shape 18"/>
          <p:cNvSpPr/>
          <p:nvPr/>
        </p:nvSpPr>
        <p:spPr>
          <a:xfrm>
            <a:off x="5195888" y="7677150"/>
            <a:ext cx="3652838" cy="76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21" name="Shape 19"/>
          <p:cNvSpPr/>
          <p:nvPr/>
        </p:nvSpPr>
        <p:spPr>
          <a:xfrm>
            <a:off x="5195888" y="7677150"/>
            <a:ext cx="9525" cy="7048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2" name="Shape 20"/>
          <p:cNvSpPr/>
          <p:nvPr/>
        </p:nvSpPr>
        <p:spPr>
          <a:xfrm>
            <a:off x="8842375" y="7677150"/>
            <a:ext cx="9525" cy="7048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3" name="Text 21"/>
          <p:cNvSpPr/>
          <p:nvPr/>
        </p:nvSpPr>
        <p:spPr>
          <a:xfrm>
            <a:off x="5869781" y="7905750"/>
            <a:ext cx="230505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Обратная связь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8982075" y="7677150"/>
            <a:ext cx="4000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9439275" y="7677150"/>
            <a:ext cx="3652838" cy="704850"/>
          </a:xfrm>
          <a:prstGeom prst="rect">
            <a:avLst/>
          </a:prstGeom>
          <a:solidFill>
            <a:srgbClr val="F5F2EC"/>
          </a:solidFill>
          <a:ln/>
        </p:spPr>
      </p:sp>
      <p:sp>
        <p:nvSpPr>
          <p:cNvPr id="26" name="Shape 24"/>
          <p:cNvSpPr/>
          <p:nvPr/>
        </p:nvSpPr>
        <p:spPr>
          <a:xfrm>
            <a:off x="9439275" y="8375650"/>
            <a:ext cx="3652838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7" name="Shape 25"/>
          <p:cNvSpPr/>
          <p:nvPr/>
        </p:nvSpPr>
        <p:spPr>
          <a:xfrm>
            <a:off x="9439275" y="7677150"/>
            <a:ext cx="3652838" cy="76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28" name="Shape 26"/>
          <p:cNvSpPr/>
          <p:nvPr/>
        </p:nvSpPr>
        <p:spPr>
          <a:xfrm>
            <a:off x="9439275" y="7677150"/>
            <a:ext cx="9525" cy="7048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9" name="Shape 27"/>
          <p:cNvSpPr/>
          <p:nvPr/>
        </p:nvSpPr>
        <p:spPr>
          <a:xfrm>
            <a:off x="13085762" y="7677150"/>
            <a:ext cx="9525" cy="7048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30" name="Text 28"/>
          <p:cNvSpPr/>
          <p:nvPr/>
        </p:nvSpPr>
        <p:spPr>
          <a:xfrm>
            <a:off x="10478249" y="7905750"/>
            <a:ext cx="157479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Доработка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3225463" y="7677150"/>
            <a:ext cx="4000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32" name="Shape 30"/>
          <p:cNvSpPr/>
          <p:nvPr/>
        </p:nvSpPr>
        <p:spPr>
          <a:xfrm>
            <a:off x="13682663" y="7677150"/>
            <a:ext cx="3652838" cy="704850"/>
          </a:xfrm>
          <a:prstGeom prst="rect">
            <a:avLst/>
          </a:prstGeom>
          <a:solidFill>
            <a:srgbClr val="F5F2EC"/>
          </a:solidFill>
          <a:ln/>
        </p:spPr>
      </p:sp>
      <p:sp>
        <p:nvSpPr>
          <p:cNvPr id="33" name="Shape 31"/>
          <p:cNvSpPr/>
          <p:nvPr/>
        </p:nvSpPr>
        <p:spPr>
          <a:xfrm>
            <a:off x="13682663" y="8375650"/>
            <a:ext cx="3652838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34" name="Shape 32"/>
          <p:cNvSpPr/>
          <p:nvPr/>
        </p:nvSpPr>
        <p:spPr>
          <a:xfrm>
            <a:off x="13682663" y="7677150"/>
            <a:ext cx="3652838" cy="76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35" name="Shape 33"/>
          <p:cNvSpPr/>
          <p:nvPr/>
        </p:nvSpPr>
        <p:spPr>
          <a:xfrm>
            <a:off x="13682663" y="7677150"/>
            <a:ext cx="9525" cy="7048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36" name="Shape 34"/>
          <p:cNvSpPr/>
          <p:nvPr/>
        </p:nvSpPr>
        <p:spPr>
          <a:xfrm>
            <a:off x="17329150" y="7677150"/>
            <a:ext cx="9525" cy="7048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37" name="Text 35"/>
          <p:cNvSpPr/>
          <p:nvPr/>
        </p:nvSpPr>
        <p:spPr>
          <a:xfrm>
            <a:off x="15160526" y="7905750"/>
            <a:ext cx="69711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133350" y="8515350"/>
            <a:ext cx="180213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цикл повторяется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952500" y="9055100"/>
            <a:ext cx="163830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40" name="Text 38"/>
          <p:cNvSpPr/>
          <p:nvPr/>
        </p:nvSpPr>
        <p:spPr>
          <a:xfrm>
            <a:off x="952500" y="9213850"/>
            <a:ext cx="1687449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sciencedirect.com — Can students judge like experts?, 2025</a:t>
            </a:r>
            <a:endParaRPr lang="en-US" sz="20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08100"/>
            <a:ext cx="1802130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09"/>
              </a:lnSpc>
              <a:buNone/>
            </a:pPr>
            <a:r>
              <a:rPr lang="en-US" sz="4800" b="1" spc="-48" kern="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рубрика и дескрипторы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82838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2259013"/>
            <a:ext cx="16599789" cy="1117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Рубрика — не оценка «на глаз», а таблица из двух измерений: критерий (что оценивается, например «аргументация», «структура») и уровень выполнения с чётким дескриптором (текстовым описанием, что именно отличает «отлично» от «удовлетворительно» по этому критерию).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952500" y="3615135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3491310"/>
            <a:ext cx="16599789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Дескриптор — это не балл, а описание наблюдаемого поведения/качества работы. Хороший дескриптор пишется так, чтобы два разных проверяющих, читая его, поставили одинаковую оценку одной и той же работе.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52500" y="4487466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4363641"/>
            <a:ext cx="16599789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Готовые ИИ-инструменты для генерации рубрик уже существуют и активно используются в образовании именно для этой задачи — настройки критериев, уровней и дескрипторов под конкретное задание.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52500" y="7651750"/>
            <a:ext cx="16383000" cy="1212850"/>
          </a:xfrm>
          <a:prstGeom prst="rect">
            <a:avLst/>
          </a:prstGeom>
          <a:ln w="6350">
            <a:solidFill>
              <a:srgbClr val="D9D3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8850" y="7658100"/>
            <a:ext cx="4092575" cy="577850"/>
          </a:xfrm>
          <a:prstGeom prst="rect">
            <a:avLst/>
          </a:prstGeom>
          <a:solidFill>
            <a:srgbClr val="E4EDE6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5700" y="7797800"/>
            <a:ext cx="382165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5051425" y="7658100"/>
            <a:ext cx="4092575" cy="577850"/>
          </a:xfrm>
          <a:prstGeom prst="rect">
            <a:avLst/>
          </a:prstGeom>
          <a:solidFill>
            <a:srgbClr val="E4EDE6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48275" y="7797800"/>
            <a:ext cx="382165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1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144000" y="7658100"/>
            <a:ext cx="4092575" cy="577850"/>
          </a:xfrm>
          <a:prstGeom prst="rect">
            <a:avLst/>
          </a:prstGeom>
          <a:solidFill>
            <a:srgbClr val="E4EDE6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40850" y="7797800"/>
            <a:ext cx="382165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2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3236576" y="7658100"/>
            <a:ext cx="4092575" cy="577850"/>
          </a:xfrm>
          <a:prstGeom prst="rect">
            <a:avLst/>
          </a:prstGeom>
          <a:solidFill>
            <a:srgbClr val="E4EDE6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433426" y="7797800"/>
            <a:ext cx="382165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3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58850" y="8235950"/>
            <a:ext cx="4092575" cy="622300"/>
          </a:xfrm>
          <a:prstGeom prst="rect">
            <a:avLst/>
          </a:prstGeom>
          <a:solidFill>
            <a:srgbClr val="F5F2EC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55700" y="8375650"/>
            <a:ext cx="382165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 1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5051425" y="8235950"/>
            <a:ext cx="4092575" cy="622300"/>
          </a:xfrm>
          <a:prstGeom prst="rect">
            <a:avLst/>
          </a:prstGeom>
          <a:solidFill>
            <a:srgbClr val="F5F2EC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86887" y="8375650"/>
            <a:ext cx="382165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144000" y="8235950"/>
            <a:ext cx="4092575" cy="622300"/>
          </a:xfrm>
          <a:prstGeom prst="rect">
            <a:avLst/>
          </a:prstGeom>
          <a:solidFill>
            <a:srgbClr val="F5F2EC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79461" y="8375650"/>
            <a:ext cx="382165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3236576" y="8235950"/>
            <a:ext cx="4092575" cy="622300"/>
          </a:xfrm>
          <a:prstGeom prst="rect">
            <a:avLst/>
          </a:prstGeom>
          <a:solidFill>
            <a:srgbClr val="F5F2EC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372037" y="8375650"/>
            <a:ext cx="382165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52500" y="9055100"/>
            <a:ext cx="163830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8" name="Text 26"/>
          <p:cNvSpPr/>
          <p:nvPr/>
        </p:nvSpPr>
        <p:spPr>
          <a:xfrm>
            <a:off x="952500" y="9213850"/>
            <a:ext cx="1687449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arxiv.org — AI-Generated Rubric Interfaces, 2025</a:t>
            </a:r>
            <a:endParaRPr lang="en-US" sz="20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08100"/>
            <a:ext cx="1802130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09"/>
              </a:lnSpc>
              <a:buNone/>
            </a:pPr>
            <a:r>
              <a:rPr lang="en-US" sz="4800" b="1" spc="-48" kern="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ИИ в составлении рубрики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82838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2259013"/>
            <a:ext cx="16599789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хорошо справляется с генерацией черновика: предлагает набор критериев и формулировки дескрипторов по теме и уровню задания — это экономит именно ту часть работы, которая отнимает больше всего времени (подбор точных формулировок).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952500" y="3255169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3131344"/>
            <a:ext cx="16599789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Финальное решение остаётся за преподавателем: какие критерии реально важны для этого задания, соответствуют ли веса критериев целям курса — это не автоматизируется, а проверяется вручную.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52500" y="4127500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4003675"/>
            <a:ext cx="16599789" cy="1117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Практический риск, который стоит держать в голове: рубрика, сгенерированная без привязки к конкретным целям обучения курса, может выглядеть профессионально, но плохо соответствовать тому, что реально нужно оценить — потому важен этап ручной сверки с целями занятия перед использованием.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52500" y="6927850"/>
            <a:ext cx="163830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1" name="Shape 9"/>
          <p:cNvSpPr/>
          <p:nvPr/>
        </p:nvSpPr>
        <p:spPr>
          <a:xfrm>
            <a:off x="952500" y="7143750"/>
            <a:ext cx="7839075" cy="1720850"/>
          </a:xfrm>
          <a:prstGeom prst="rect">
            <a:avLst/>
          </a:prstGeom>
          <a:solidFill>
            <a:srgbClr val="E4EDE6"/>
          </a:solidFill>
          <a:ln/>
        </p:spPr>
      </p:sp>
      <p:sp>
        <p:nvSpPr>
          <p:cNvPr id="12" name="Shape 10"/>
          <p:cNvSpPr/>
          <p:nvPr/>
        </p:nvSpPr>
        <p:spPr>
          <a:xfrm>
            <a:off x="952500" y="8858250"/>
            <a:ext cx="7839075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3" name="Shape 11"/>
          <p:cNvSpPr/>
          <p:nvPr/>
        </p:nvSpPr>
        <p:spPr>
          <a:xfrm>
            <a:off x="952500" y="7143750"/>
            <a:ext cx="7839075" cy="76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4" name="Shape 12"/>
          <p:cNvSpPr/>
          <p:nvPr/>
        </p:nvSpPr>
        <p:spPr>
          <a:xfrm>
            <a:off x="952500" y="7143750"/>
            <a:ext cx="9525" cy="17208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5" name="Shape 13"/>
          <p:cNvSpPr/>
          <p:nvPr/>
        </p:nvSpPr>
        <p:spPr>
          <a:xfrm>
            <a:off x="8785225" y="7143750"/>
            <a:ext cx="9525" cy="17208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6" name="Text 14"/>
          <p:cNvSpPr/>
          <p:nvPr/>
        </p:nvSpPr>
        <p:spPr>
          <a:xfrm>
            <a:off x="1187450" y="7410450"/>
            <a:ext cx="81060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предлагает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187450" y="7867650"/>
            <a:ext cx="81060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критерии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87450" y="8324850"/>
            <a:ext cx="81060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формулировки дескрипторов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982075" y="7143750"/>
            <a:ext cx="400050" cy="175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496425" y="7143750"/>
            <a:ext cx="7839075" cy="1720850"/>
          </a:xfrm>
          <a:prstGeom prst="rect">
            <a:avLst/>
          </a:prstGeom>
          <a:solidFill>
            <a:srgbClr val="F6E7E1"/>
          </a:solidFill>
          <a:ln/>
        </p:spPr>
      </p:sp>
      <p:sp>
        <p:nvSpPr>
          <p:cNvPr id="21" name="Shape 19"/>
          <p:cNvSpPr/>
          <p:nvPr/>
        </p:nvSpPr>
        <p:spPr>
          <a:xfrm>
            <a:off x="9496425" y="8858250"/>
            <a:ext cx="7839075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2" name="Shape 20"/>
          <p:cNvSpPr/>
          <p:nvPr/>
        </p:nvSpPr>
        <p:spPr>
          <a:xfrm>
            <a:off x="9496425" y="7143750"/>
            <a:ext cx="7839075" cy="76200"/>
          </a:xfrm>
          <a:prstGeom prst="rect">
            <a:avLst/>
          </a:prstGeom>
          <a:solidFill>
            <a:srgbClr val="B4472A"/>
          </a:solidFill>
          <a:ln/>
        </p:spPr>
      </p:sp>
      <p:sp>
        <p:nvSpPr>
          <p:cNvPr id="23" name="Shape 21"/>
          <p:cNvSpPr/>
          <p:nvPr/>
        </p:nvSpPr>
        <p:spPr>
          <a:xfrm>
            <a:off x="9496425" y="7143750"/>
            <a:ext cx="9525" cy="17208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4" name="Shape 22"/>
          <p:cNvSpPr/>
          <p:nvPr/>
        </p:nvSpPr>
        <p:spPr>
          <a:xfrm>
            <a:off x="17329150" y="7143750"/>
            <a:ext cx="9525" cy="17208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5" name="Text 23"/>
          <p:cNvSpPr/>
          <p:nvPr/>
        </p:nvSpPr>
        <p:spPr>
          <a:xfrm>
            <a:off x="9731375" y="7410450"/>
            <a:ext cx="81060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4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Преподаватель утверждает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9731375" y="7867650"/>
            <a:ext cx="81060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какие критерии важны для задания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731375" y="8324850"/>
            <a:ext cx="81060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веса критериев целям курса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2500" y="9055100"/>
            <a:ext cx="163830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9" name="Text 27"/>
          <p:cNvSpPr/>
          <p:nvPr/>
        </p:nvSpPr>
        <p:spPr>
          <a:xfrm>
            <a:off x="952500" y="9213850"/>
            <a:ext cx="1687449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eric.ed.gov — Utilizing AI for Assessment in Higher Education, 2025</a:t>
            </a:r>
            <a:endParaRPr lang="en-US" sz="20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08100"/>
            <a:ext cx="16874490" cy="1330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09"/>
              </a:lnSpc>
              <a:buNone/>
            </a:pPr>
            <a:r>
              <a:rPr lang="en-US" sz="4800" b="1" spc="-48" kern="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Предварительная обратная связь ИИ при сохранении роли преподавателя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3019425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2905125"/>
            <a:ext cx="16599789" cy="1079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30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Рекомендуемая модель — не «ИИ вместо преподавателя», а «ИИ до преподавателя»: студент получает черновик обратной связи от ИИ, преподаватель просматривает и корректирует его перед финальной выдачей, либо ИИ используется преподавателем для ускорения написания собственного отзыва.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952500" y="4194274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4079974"/>
            <a:ext cx="16599789" cy="1079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30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Важное ограничение, которое стоит явно проговорить: ИИ должен давать именно формирующую обратную связь (что улучшить), а не выставлять итоговую оценку или балл — это разделение прямо рекомендуется в актуальных методических материалах по работе с ИИ в оценивании.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52500" y="5369123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5254823"/>
            <a:ext cx="16599789" cy="1079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30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Риск, о котором предупреждают исследования: чрезмерная опора на готовый ИИ-фидбек без ручной проверки может привести к «метакогнитивной лени» — и у студентов, получающих слишком готовые ответы, и у преподавателей, перестающих вникать в содержание работ.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52500" y="7670800"/>
            <a:ext cx="163830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1" name="Shape 9"/>
          <p:cNvSpPr/>
          <p:nvPr/>
        </p:nvSpPr>
        <p:spPr>
          <a:xfrm>
            <a:off x="952500" y="7867650"/>
            <a:ext cx="3784600" cy="1035050"/>
          </a:xfrm>
          <a:prstGeom prst="rect">
            <a:avLst/>
          </a:prstGeom>
          <a:solidFill>
            <a:srgbClr val="F5F2EC"/>
          </a:solidFill>
          <a:ln/>
        </p:spPr>
      </p:sp>
      <p:sp>
        <p:nvSpPr>
          <p:cNvPr id="12" name="Shape 10"/>
          <p:cNvSpPr/>
          <p:nvPr/>
        </p:nvSpPr>
        <p:spPr>
          <a:xfrm>
            <a:off x="952500" y="8896350"/>
            <a:ext cx="37846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3" name="Shape 11"/>
          <p:cNvSpPr/>
          <p:nvPr/>
        </p:nvSpPr>
        <p:spPr>
          <a:xfrm>
            <a:off x="952500" y="7867650"/>
            <a:ext cx="3784600" cy="76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4" name="Shape 12"/>
          <p:cNvSpPr/>
          <p:nvPr/>
        </p:nvSpPr>
        <p:spPr>
          <a:xfrm>
            <a:off x="952500" y="7867650"/>
            <a:ext cx="9525" cy="10350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5" name="Shape 13"/>
          <p:cNvSpPr/>
          <p:nvPr/>
        </p:nvSpPr>
        <p:spPr>
          <a:xfrm>
            <a:off x="4730750" y="7867650"/>
            <a:ext cx="9525" cy="10350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6" name="Text 14"/>
          <p:cNvSpPr/>
          <p:nvPr/>
        </p:nvSpPr>
        <p:spPr>
          <a:xfrm>
            <a:off x="1678528" y="8264525"/>
            <a:ext cx="2332444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студента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4851400" y="7867650"/>
            <a:ext cx="381000" cy="1073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270500" y="7867650"/>
            <a:ext cx="3429000" cy="654050"/>
          </a:xfrm>
          <a:prstGeom prst="rect">
            <a:avLst/>
          </a:prstGeom>
          <a:solidFill>
            <a:srgbClr val="E4EDE6"/>
          </a:solidFill>
          <a:ln w="19050">
            <a:solidFill>
              <a:srgbClr val="0F5132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858455" y="8039100"/>
            <a:ext cx="225299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Черновик от ИИ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5871071" y="8578850"/>
            <a:ext cx="245064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черновик, не финал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8813800" y="7867650"/>
            <a:ext cx="381000" cy="1073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232900" y="7867650"/>
            <a:ext cx="3784600" cy="1035050"/>
          </a:xfrm>
          <a:prstGeom prst="rect">
            <a:avLst/>
          </a:prstGeom>
          <a:solidFill>
            <a:srgbClr val="F5F2EC"/>
          </a:solidFill>
          <a:ln/>
        </p:spPr>
      </p:sp>
      <p:sp>
        <p:nvSpPr>
          <p:cNvPr id="23" name="Shape 21"/>
          <p:cNvSpPr/>
          <p:nvPr/>
        </p:nvSpPr>
        <p:spPr>
          <a:xfrm>
            <a:off x="9232900" y="8896350"/>
            <a:ext cx="37846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4" name="Shape 22"/>
          <p:cNvSpPr/>
          <p:nvPr/>
        </p:nvSpPr>
        <p:spPr>
          <a:xfrm>
            <a:off x="9232900" y="7867650"/>
            <a:ext cx="3784600" cy="76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25" name="Shape 23"/>
          <p:cNvSpPr/>
          <p:nvPr/>
        </p:nvSpPr>
        <p:spPr>
          <a:xfrm>
            <a:off x="9232900" y="7867650"/>
            <a:ext cx="9525" cy="10350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6" name="Shape 24"/>
          <p:cNvSpPr/>
          <p:nvPr/>
        </p:nvSpPr>
        <p:spPr>
          <a:xfrm>
            <a:off x="13011150" y="7867650"/>
            <a:ext cx="9525" cy="10350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7" name="Text 25"/>
          <p:cNvSpPr/>
          <p:nvPr/>
        </p:nvSpPr>
        <p:spPr>
          <a:xfrm>
            <a:off x="9500969" y="8264525"/>
            <a:ext cx="3248462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Правка преподавателя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13131801" y="7867650"/>
            <a:ext cx="381000" cy="1073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3550901" y="7867650"/>
            <a:ext cx="3784600" cy="1035050"/>
          </a:xfrm>
          <a:prstGeom prst="rect">
            <a:avLst/>
          </a:prstGeom>
          <a:solidFill>
            <a:srgbClr val="F5F2EC"/>
          </a:solidFill>
          <a:ln/>
        </p:spPr>
      </p:sp>
      <p:sp>
        <p:nvSpPr>
          <p:cNvPr id="30" name="Shape 28"/>
          <p:cNvSpPr/>
          <p:nvPr/>
        </p:nvSpPr>
        <p:spPr>
          <a:xfrm>
            <a:off x="13550901" y="8896350"/>
            <a:ext cx="37846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31" name="Shape 29"/>
          <p:cNvSpPr/>
          <p:nvPr/>
        </p:nvSpPr>
        <p:spPr>
          <a:xfrm>
            <a:off x="13550901" y="7867650"/>
            <a:ext cx="3784600" cy="76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32" name="Shape 30"/>
          <p:cNvSpPr/>
          <p:nvPr/>
        </p:nvSpPr>
        <p:spPr>
          <a:xfrm>
            <a:off x="13550901" y="7867650"/>
            <a:ext cx="9525" cy="10350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33" name="Shape 31"/>
          <p:cNvSpPr/>
          <p:nvPr/>
        </p:nvSpPr>
        <p:spPr>
          <a:xfrm>
            <a:off x="17329151" y="7867650"/>
            <a:ext cx="9525" cy="10350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34" name="Text 32"/>
          <p:cNvSpPr/>
          <p:nvPr/>
        </p:nvSpPr>
        <p:spPr>
          <a:xfrm>
            <a:off x="14877058" y="8264525"/>
            <a:ext cx="1132284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</a:t>
            </a:r>
            <a:endParaRPr lang="en-US" sz="2025" dirty="0"/>
          </a:p>
        </p:txBody>
      </p:sp>
      <p:sp>
        <p:nvSpPr>
          <p:cNvPr id="35" name="Shape 33"/>
          <p:cNvSpPr/>
          <p:nvPr/>
        </p:nvSpPr>
        <p:spPr>
          <a:xfrm>
            <a:off x="952500" y="9055100"/>
            <a:ext cx="163830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36" name="Text 34"/>
          <p:cNvSpPr/>
          <p:nvPr/>
        </p:nvSpPr>
        <p:spPr>
          <a:xfrm>
            <a:off x="952500" y="9213850"/>
            <a:ext cx="1687449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aiforeducation.io — Formative Feedback with AI, 2025</a:t>
            </a:r>
            <a:endParaRPr lang="en-US" sz="20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08100"/>
            <a:ext cx="1802130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09"/>
              </a:lnSpc>
              <a:buNone/>
            </a:pPr>
            <a:r>
              <a:rPr lang="en-US" sz="4800" b="1" spc="-48" kern="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хорошей обратной связи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82838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2259013"/>
            <a:ext cx="16599789" cy="1117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Обратная связь работает лучше, если построена по устойчивой структуре, а не пишется вольным текстом каждый раз заново. Один из проверенных форматов — последовательность: конкретная сильная сторона → конкретная зона роста → конкретный следующий шаг.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952500" y="3615135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3491310"/>
            <a:ext cx="16599789" cy="1117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Исследования формирующей обратной связи выделяют похожую структуру из четырёх элементов: отметить сильные стороны, точно указать, что требует улучшения, дать выполнимую рекомендацию к действию, и вовлечь студента (например, вопросом) — а не просто констатировать факт.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52500" y="4847431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4723606"/>
            <a:ext cx="16599789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Ключевое слово во всех моделях — «конкретность»: обратная связь вида «хорошо, но можно лучше» не работает ни в человеческом, ни в ИИ-исполнении — критерием качества служит наличие конкретной, применимой рекомендации.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52500" y="7842250"/>
            <a:ext cx="163830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1" name="Shape 9"/>
          <p:cNvSpPr/>
          <p:nvPr/>
        </p:nvSpPr>
        <p:spPr>
          <a:xfrm>
            <a:off x="952500" y="8058150"/>
            <a:ext cx="5016500" cy="806450"/>
          </a:xfrm>
          <a:prstGeom prst="rect">
            <a:avLst/>
          </a:prstGeom>
          <a:solidFill>
            <a:srgbClr val="E4EDE6"/>
          </a:solidFill>
          <a:ln/>
        </p:spPr>
      </p:sp>
      <p:sp>
        <p:nvSpPr>
          <p:cNvPr id="12" name="Shape 10"/>
          <p:cNvSpPr/>
          <p:nvPr/>
        </p:nvSpPr>
        <p:spPr>
          <a:xfrm>
            <a:off x="952500" y="8858250"/>
            <a:ext cx="50165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3" name="Shape 11"/>
          <p:cNvSpPr/>
          <p:nvPr/>
        </p:nvSpPr>
        <p:spPr>
          <a:xfrm>
            <a:off x="952500" y="8058150"/>
            <a:ext cx="5016500" cy="76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4" name="Shape 12"/>
          <p:cNvSpPr/>
          <p:nvPr/>
        </p:nvSpPr>
        <p:spPr>
          <a:xfrm>
            <a:off x="952500" y="8058150"/>
            <a:ext cx="9525" cy="8064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5" name="Shape 13"/>
          <p:cNvSpPr/>
          <p:nvPr/>
        </p:nvSpPr>
        <p:spPr>
          <a:xfrm>
            <a:off x="5962650" y="8058150"/>
            <a:ext cx="9525" cy="8064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6" name="Text 14"/>
          <p:cNvSpPr/>
          <p:nvPr/>
        </p:nvSpPr>
        <p:spPr>
          <a:xfrm>
            <a:off x="2122145" y="8324850"/>
            <a:ext cx="26771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Сильная сторона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6140450" y="8058150"/>
            <a:ext cx="400050" cy="844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6635750" y="8058150"/>
            <a:ext cx="5016500" cy="806450"/>
          </a:xfrm>
          <a:prstGeom prst="rect">
            <a:avLst/>
          </a:prstGeom>
          <a:solidFill>
            <a:srgbClr val="E4EDE6"/>
          </a:solidFill>
          <a:ln/>
        </p:spPr>
      </p:sp>
      <p:sp>
        <p:nvSpPr>
          <p:cNvPr id="19" name="Shape 17"/>
          <p:cNvSpPr/>
          <p:nvPr/>
        </p:nvSpPr>
        <p:spPr>
          <a:xfrm>
            <a:off x="6635750" y="8858250"/>
            <a:ext cx="50165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0" name="Shape 18"/>
          <p:cNvSpPr/>
          <p:nvPr/>
        </p:nvSpPr>
        <p:spPr>
          <a:xfrm>
            <a:off x="6635750" y="8058150"/>
            <a:ext cx="5016500" cy="76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21" name="Shape 19"/>
          <p:cNvSpPr/>
          <p:nvPr/>
        </p:nvSpPr>
        <p:spPr>
          <a:xfrm>
            <a:off x="6635750" y="8058150"/>
            <a:ext cx="9525" cy="8064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2" name="Shape 20"/>
          <p:cNvSpPr/>
          <p:nvPr/>
        </p:nvSpPr>
        <p:spPr>
          <a:xfrm>
            <a:off x="11645900" y="8058150"/>
            <a:ext cx="9525" cy="8064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3" name="Text 21"/>
          <p:cNvSpPr/>
          <p:nvPr/>
        </p:nvSpPr>
        <p:spPr>
          <a:xfrm>
            <a:off x="8274149" y="8324850"/>
            <a:ext cx="173970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Зона роста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1823700" y="8058150"/>
            <a:ext cx="400050" cy="844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12319000" y="8058150"/>
            <a:ext cx="5016500" cy="806450"/>
          </a:xfrm>
          <a:prstGeom prst="rect">
            <a:avLst/>
          </a:prstGeom>
          <a:solidFill>
            <a:srgbClr val="E4ED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2319000" y="8858250"/>
            <a:ext cx="50165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7" name="Shape 25"/>
          <p:cNvSpPr/>
          <p:nvPr/>
        </p:nvSpPr>
        <p:spPr>
          <a:xfrm>
            <a:off x="12319000" y="8058150"/>
            <a:ext cx="5016500" cy="76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28" name="Shape 26"/>
          <p:cNvSpPr/>
          <p:nvPr/>
        </p:nvSpPr>
        <p:spPr>
          <a:xfrm>
            <a:off x="12319000" y="8058150"/>
            <a:ext cx="9525" cy="8064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9" name="Shape 27"/>
          <p:cNvSpPr/>
          <p:nvPr/>
        </p:nvSpPr>
        <p:spPr>
          <a:xfrm>
            <a:off x="17329151" y="8058150"/>
            <a:ext cx="9525" cy="8064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30" name="Text 28"/>
          <p:cNvSpPr/>
          <p:nvPr/>
        </p:nvSpPr>
        <p:spPr>
          <a:xfrm>
            <a:off x="13566567" y="8324850"/>
            <a:ext cx="252136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952500" y="9055100"/>
            <a:ext cx="163830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32" name="Text 30"/>
          <p:cNvSpPr/>
          <p:nvPr/>
        </p:nvSpPr>
        <p:spPr>
          <a:xfrm>
            <a:off x="952500" y="9213850"/>
            <a:ext cx="1687449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sciencedirect.com — Can students judge like experts?, 2025</a:t>
            </a:r>
            <a:endParaRPr lang="en-US" sz="20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08100"/>
            <a:ext cx="1802130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09"/>
              </a:lnSpc>
              <a:buNone/>
            </a:pPr>
            <a:r>
              <a:rPr lang="en-US" sz="4800" b="1" spc="-48" kern="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Самооценивание с ИИ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82838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2259013"/>
            <a:ext cx="16599789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Самооценивание — это не «поставь себе оценку», а обучающий процесс: студент до сдачи работы сверяет её с рубрикой самостоятельно, что развивает способность видеть качество своей работы глазами проверяющего.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952500" y="3255169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3131344"/>
            <a:ext cx="16599789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здесь может выполнять роль тренажёра: студент показывает черновик и рубрику, ИИ задаёт уточняющие вопросы или указывает на несоответствия критериям — не выставляя оценку, а помогая студенту самому её увидеть.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52500" y="4127500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4003675"/>
            <a:ext cx="16599789" cy="1117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Систематический обзор полувекового массива исследований самооценивания студентов подтверждает: обучение через сверку с чёткими критериями — устойчиво работающая практика, а не временная мода, и добавление ИИ в неё не меняет базовый механизм, а лишь делает сверку доступнее и быстрее.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52500" y="7696200"/>
            <a:ext cx="163830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1" name="Shape 9"/>
          <p:cNvSpPr/>
          <p:nvPr/>
        </p:nvSpPr>
        <p:spPr>
          <a:xfrm>
            <a:off x="4554538" y="7966075"/>
            <a:ext cx="3479800" cy="844550"/>
          </a:xfrm>
          <a:prstGeom prst="rect">
            <a:avLst/>
          </a:prstGeom>
          <a:solidFill>
            <a:srgbClr val="F5F2E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54538" y="8804275"/>
            <a:ext cx="34798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3" name="Shape 11"/>
          <p:cNvSpPr/>
          <p:nvPr/>
        </p:nvSpPr>
        <p:spPr>
          <a:xfrm>
            <a:off x="4554538" y="7966075"/>
            <a:ext cx="3479800" cy="76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4" name="Shape 12"/>
          <p:cNvSpPr/>
          <p:nvPr/>
        </p:nvSpPr>
        <p:spPr>
          <a:xfrm>
            <a:off x="4554538" y="7966075"/>
            <a:ext cx="9525" cy="8445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5" name="Shape 13"/>
          <p:cNvSpPr/>
          <p:nvPr/>
        </p:nvSpPr>
        <p:spPr>
          <a:xfrm>
            <a:off x="8027988" y="7966075"/>
            <a:ext cx="9525" cy="8445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657" y="8251825"/>
            <a:ext cx="124956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8415338" y="8181975"/>
            <a:ext cx="41910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9139238" y="7912100"/>
            <a:ext cx="9525" cy="95250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9" name="Text 17"/>
          <p:cNvSpPr/>
          <p:nvPr/>
        </p:nvSpPr>
        <p:spPr>
          <a:xfrm>
            <a:off x="9529763" y="8181975"/>
            <a:ext cx="41910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10253663" y="7966075"/>
            <a:ext cx="3479800" cy="844550"/>
          </a:xfrm>
          <a:prstGeom prst="rect">
            <a:avLst/>
          </a:prstGeom>
          <a:solidFill>
            <a:srgbClr val="F5F2E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53663" y="8804275"/>
            <a:ext cx="34798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53663" y="7966075"/>
            <a:ext cx="3479800" cy="76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53663" y="7966075"/>
            <a:ext cx="9525" cy="8445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4" name="Shape 22"/>
          <p:cNvSpPr/>
          <p:nvPr/>
        </p:nvSpPr>
        <p:spPr>
          <a:xfrm>
            <a:off x="13727113" y="7966075"/>
            <a:ext cx="9525" cy="8445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5" name="Text 23"/>
          <p:cNvSpPr/>
          <p:nvPr/>
        </p:nvSpPr>
        <p:spPr>
          <a:xfrm>
            <a:off x="11328683" y="8251825"/>
            <a:ext cx="13296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Рубрика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952500" y="9055100"/>
            <a:ext cx="163830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7" name="Text 25"/>
          <p:cNvSpPr/>
          <p:nvPr/>
        </p:nvSpPr>
        <p:spPr>
          <a:xfrm>
            <a:off x="952500" y="9213850"/>
            <a:ext cx="1687449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arxiv.org — Leveraging Peer, Self, and Teacher Assessments, 2025</a:t>
            </a:r>
            <a:endParaRPr lang="en-US" sz="20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08100"/>
            <a:ext cx="1802130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09"/>
              </a:lnSpc>
              <a:buNone/>
            </a:pPr>
            <a:r>
              <a:rPr lang="en-US" sz="4800" b="1" spc="-48" kern="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Взаимное оценивание (peer assessment) с ИИ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73313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2259013"/>
            <a:ext cx="16599789" cy="1079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30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assessment традиционно страдает от разброса качества: одни студенты дают содержательный отзыв, другие — формальную отписку. Обзор 79 исследований показывает, что добавление ИИ в процесс взаимного оценивания в большинстве случаев улучшает результат именно по этому параметру.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952500" y="3548162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3433862"/>
            <a:ext cx="16599789" cy="1079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30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Практическая функция ИИ здесь — не замена рецензента-студента, а помощь ему сформулировать содержательный отзыв (по той же структуре из слайда 6) и контроль преподавателя над итоговым процессом — это прямо выделено как один из шести ключевых компонентов в структуре современных ИИ-инструментов peer assessment.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52500" y="4723011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4608711"/>
            <a:ext cx="16599789" cy="1079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30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Ограничение, которое стоит держать в уме: калибровка (насколько согласованно разные студенты оценивают одну и ту же работу) — до сих пор один из наименее исследованных и наименее решённых вопросов в этой области, то есть это не «решённая ИИ проблема», а зона, требующая ручного контроля преподавателя.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52500" y="6534150"/>
            <a:ext cx="163830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1" name="Shape 9"/>
          <p:cNvSpPr/>
          <p:nvPr/>
        </p:nvSpPr>
        <p:spPr>
          <a:xfrm>
            <a:off x="4857750" y="6731000"/>
            <a:ext cx="2413000" cy="698500"/>
          </a:xfrm>
          <a:prstGeom prst="rect">
            <a:avLst/>
          </a:prstGeom>
          <a:solidFill>
            <a:srgbClr val="F5F2EC"/>
          </a:solidFill>
          <a:ln/>
        </p:spPr>
      </p:sp>
      <p:sp>
        <p:nvSpPr>
          <p:cNvPr id="12" name="Shape 10"/>
          <p:cNvSpPr/>
          <p:nvPr/>
        </p:nvSpPr>
        <p:spPr>
          <a:xfrm>
            <a:off x="4857750" y="7423150"/>
            <a:ext cx="24130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3" name="Shape 11"/>
          <p:cNvSpPr/>
          <p:nvPr/>
        </p:nvSpPr>
        <p:spPr>
          <a:xfrm>
            <a:off x="4857750" y="6731000"/>
            <a:ext cx="2413000" cy="76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4" name="Shape 12"/>
          <p:cNvSpPr/>
          <p:nvPr/>
        </p:nvSpPr>
        <p:spPr>
          <a:xfrm>
            <a:off x="4857750" y="6731000"/>
            <a:ext cx="9525" cy="69850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5" name="Shape 13"/>
          <p:cNvSpPr/>
          <p:nvPr/>
        </p:nvSpPr>
        <p:spPr>
          <a:xfrm>
            <a:off x="7264400" y="6731000"/>
            <a:ext cx="9525" cy="69850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6" name="Text 14"/>
          <p:cNvSpPr/>
          <p:nvPr/>
        </p:nvSpPr>
        <p:spPr>
          <a:xfrm>
            <a:off x="5350580" y="6959600"/>
            <a:ext cx="1427341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 A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7461250" y="6905625"/>
            <a:ext cx="3619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7937500" y="6731000"/>
            <a:ext cx="2413000" cy="698500"/>
          </a:xfrm>
          <a:prstGeom prst="rect">
            <a:avLst/>
          </a:prstGeom>
          <a:solidFill>
            <a:srgbClr val="F5F2EC"/>
          </a:solidFill>
          <a:ln/>
        </p:spPr>
      </p:sp>
      <p:sp>
        <p:nvSpPr>
          <p:cNvPr id="19" name="Shape 17"/>
          <p:cNvSpPr/>
          <p:nvPr/>
        </p:nvSpPr>
        <p:spPr>
          <a:xfrm>
            <a:off x="7937500" y="7423150"/>
            <a:ext cx="24130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0" name="Shape 18"/>
          <p:cNvSpPr/>
          <p:nvPr/>
        </p:nvSpPr>
        <p:spPr>
          <a:xfrm>
            <a:off x="7937500" y="6731000"/>
            <a:ext cx="2413000" cy="76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21" name="Shape 19"/>
          <p:cNvSpPr/>
          <p:nvPr/>
        </p:nvSpPr>
        <p:spPr>
          <a:xfrm>
            <a:off x="7937500" y="6731000"/>
            <a:ext cx="9525" cy="69850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2" name="Shape 20"/>
          <p:cNvSpPr/>
          <p:nvPr/>
        </p:nvSpPr>
        <p:spPr>
          <a:xfrm>
            <a:off x="10344150" y="6731000"/>
            <a:ext cx="9525" cy="69850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3" name="Text 21"/>
          <p:cNvSpPr/>
          <p:nvPr/>
        </p:nvSpPr>
        <p:spPr>
          <a:xfrm>
            <a:off x="8431639" y="6959600"/>
            <a:ext cx="1424722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 B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10541001" y="6905625"/>
            <a:ext cx="3619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11017251" y="6731000"/>
            <a:ext cx="2413000" cy="698500"/>
          </a:xfrm>
          <a:prstGeom prst="rect">
            <a:avLst/>
          </a:prstGeom>
          <a:solidFill>
            <a:srgbClr val="F5F2EC"/>
          </a:solidFill>
          <a:ln/>
        </p:spPr>
      </p:sp>
      <p:sp>
        <p:nvSpPr>
          <p:cNvPr id="26" name="Shape 24"/>
          <p:cNvSpPr/>
          <p:nvPr/>
        </p:nvSpPr>
        <p:spPr>
          <a:xfrm>
            <a:off x="11017251" y="7423150"/>
            <a:ext cx="24130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7" name="Shape 25"/>
          <p:cNvSpPr/>
          <p:nvPr/>
        </p:nvSpPr>
        <p:spPr>
          <a:xfrm>
            <a:off x="11017251" y="6731000"/>
            <a:ext cx="2413000" cy="76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28" name="Shape 26"/>
          <p:cNvSpPr/>
          <p:nvPr/>
        </p:nvSpPr>
        <p:spPr>
          <a:xfrm>
            <a:off x="11017251" y="6731000"/>
            <a:ext cx="9525" cy="69850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9" name="Shape 27"/>
          <p:cNvSpPr/>
          <p:nvPr/>
        </p:nvSpPr>
        <p:spPr>
          <a:xfrm>
            <a:off x="13423901" y="6731000"/>
            <a:ext cx="9525" cy="69850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30" name="Text 28"/>
          <p:cNvSpPr/>
          <p:nvPr/>
        </p:nvSpPr>
        <p:spPr>
          <a:xfrm>
            <a:off x="11508661" y="6959600"/>
            <a:ext cx="1430179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 C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9037241" y="7562850"/>
            <a:ext cx="28962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7785100" y="8013700"/>
            <a:ext cx="2717800" cy="889000"/>
          </a:xfrm>
          <a:prstGeom prst="rect">
            <a:avLst/>
          </a:prstGeom>
          <a:solidFill>
            <a:srgbClr val="E4EDE6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4983" y="8134350"/>
            <a:ext cx="2558034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— помощник, не судья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952500" y="9055100"/>
            <a:ext cx="163830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35" name="Text 33"/>
          <p:cNvSpPr/>
          <p:nvPr/>
        </p:nvSpPr>
        <p:spPr>
          <a:xfrm>
            <a:off x="952500" y="9213850"/>
            <a:ext cx="1687449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springer.com — Enhancing peer assessment with AI (Topping et al.), 2025</a:t>
            </a:r>
            <a:endParaRPr lang="en-US" sz="20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8FB7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08100"/>
            <a:ext cx="1802130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09"/>
              </a:lnSpc>
              <a:buNone/>
            </a:pPr>
            <a:r>
              <a:rPr lang="en-US" sz="4800" b="1" spc="-48" kern="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Типичные риски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335213"/>
            <a:ext cx="30966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4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376462" y="2335213"/>
            <a:ext cx="16437810" cy="78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C9D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Смещение роли: ИИ выставляет итоговую оценку вместо преподавателя вместо того, чтобы давать промежуточный черновик — нарушение принципа «человек в контуре».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2500" y="3348633"/>
            <a:ext cx="30966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4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76462" y="3348633"/>
            <a:ext cx="16437810" cy="78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C9D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Общий, не привязанный к конкретной рубрике комментарий — ИИ без чёткой рубрики на входе выдаёт универсальные фразы, которые ничем не помогают студенту.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2500" y="4362053"/>
            <a:ext cx="30966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4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76462" y="4362053"/>
            <a:ext cx="16437810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C9D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Слепое доверие без ручной проверки — ни рубрика, ни фидбек, ни peer-калибровка не должны использоваться без финального контроля преподавателя — это единственная защита от систематических ошибок и алгоритмических смещений, о которых прямо предупреждают все процитированные обзоры.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52500" y="9055100"/>
            <a:ext cx="163830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9213850"/>
            <a:ext cx="1687449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FB7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frontiersin.org — Educators' reflections on AI-automated feedback, 2025</a:t>
            </a:r>
            <a:endParaRPr lang="en-US" sz="20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8FB7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08100"/>
            <a:ext cx="1802130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09"/>
              </a:lnSpc>
              <a:buNone/>
            </a:pPr>
            <a:r>
              <a:rPr lang="en-US" sz="4800" b="1" spc="-48" kern="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Переход к практике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226145" y="5012531"/>
            <a:ext cx="3110508" cy="920750"/>
          </a:xfrm>
          <a:prstGeom prst="rect">
            <a:avLst/>
          </a:prstGeom>
          <a:solidFill>
            <a:srgbClr val="1B2A22"/>
          </a:solidFill>
          <a:ln/>
        </p:spPr>
      </p:sp>
      <p:sp>
        <p:nvSpPr>
          <p:cNvPr id="5" name="Shape 3"/>
          <p:cNvSpPr/>
          <p:nvPr/>
        </p:nvSpPr>
        <p:spPr>
          <a:xfrm>
            <a:off x="1226145" y="5926931"/>
            <a:ext cx="3110508" cy="9525"/>
          </a:xfrm>
          <a:prstGeom prst="rect">
            <a:avLst/>
          </a:prstGeom>
          <a:solidFill>
            <a:srgbClr val="3A473F"/>
          </a:solidFill>
          <a:ln/>
        </p:spPr>
      </p:sp>
      <p:sp>
        <p:nvSpPr>
          <p:cNvPr id="6" name="Shape 4"/>
          <p:cNvSpPr/>
          <p:nvPr/>
        </p:nvSpPr>
        <p:spPr>
          <a:xfrm>
            <a:off x="1226145" y="5012531"/>
            <a:ext cx="3110508" cy="76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7" name="Shape 5"/>
          <p:cNvSpPr/>
          <p:nvPr/>
        </p:nvSpPr>
        <p:spPr>
          <a:xfrm>
            <a:off x="1226145" y="5012531"/>
            <a:ext cx="9525" cy="920750"/>
          </a:xfrm>
          <a:prstGeom prst="rect">
            <a:avLst/>
          </a:prstGeom>
          <a:solidFill>
            <a:srgbClr val="3A473F"/>
          </a:solidFill>
          <a:ln/>
        </p:spPr>
      </p:sp>
      <p:sp>
        <p:nvSpPr>
          <p:cNvPr id="8" name="Shape 6"/>
          <p:cNvSpPr/>
          <p:nvPr/>
        </p:nvSpPr>
        <p:spPr>
          <a:xfrm>
            <a:off x="4330303" y="5012531"/>
            <a:ext cx="9525" cy="920750"/>
          </a:xfrm>
          <a:prstGeom prst="rect">
            <a:avLst/>
          </a:prstGeom>
          <a:solidFill>
            <a:srgbClr val="3A473F"/>
          </a:solidFill>
          <a:ln/>
        </p:spPr>
      </p:sp>
      <p:sp>
        <p:nvSpPr>
          <p:cNvPr id="9" name="Text 7"/>
          <p:cNvSpPr/>
          <p:nvPr/>
        </p:nvSpPr>
        <p:spPr>
          <a:xfrm>
            <a:off x="1433840" y="5336381"/>
            <a:ext cx="269511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Свой рубрикатор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527153" y="5012531"/>
            <a:ext cx="400050" cy="958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8FB7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5041503" y="5012531"/>
            <a:ext cx="5632450" cy="920750"/>
          </a:xfrm>
          <a:prstGeom prst="rect">
            <a:avLst/>
          </a:prstGeom>
          <a:solidFill>
            <a:srgbClr val="1B2A22"/>
          </a:solidFill>
          <a:ln/>
        </p:spPr>
      </p:sp>
      <p:sp>
        <p:nvSpPr>
          <p:cNvPr id="12" name="Shape 10"/>
          <p:cNvSpPr/>
          <p:nvPr/>
        </p:nvSpPr>
        <p:spPr>
          <a:xfrm>
            <a:off x="5041503" y="5926931"/>
            <a:ext cx="5632450" cy="9525"/>
          </a:xfrm>
          <a:prstGeom prst="rect">
            <a:avLst/>
          </a:prstGeom>
          <a:solidFill>
            <a:srgbClr val="3A473F"/>
          </a:solidFill>
          <a:ln/>
        </p:spPr>
      </p:sp>
      <p:sp>
        <p:nvSpPr>
          <p:cNvPr id="13" name="Shape 11"/>
          <p:cNvSpPr/>
          <p:nvPr/>
        </p:nvSpPr>
        <p:spPr>
          <a:xfrm>
            <a:off x="5041503" y="5012531"/>
            <a:ext cx="5632450" cy="76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4" name="Shape 12"/>
          <p:cNvSpPr/>
          <p:nvPr/>
        </p:nvSpPr>
        <p:spPr>
          <a:xfrm>
            <a:off x="5041503" y="5012531"/>
            <a:ext cx="9525" cy="920750"/>
          </a:xfrm>
          <a:prstGeom prst="rect">
            <a:avLst/>
          </a:prstGeom>
          <a:solidFill>
            <a:srgbClr val="3A473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67604" y="5012531"/>
            <a:ext cx="9525" cy="920750"/>
          </a:xfrm>
          <a:prstGeom prst="rect">
            <a:avLst/>
          </a:prstGeom>
          <a:solidFill>
            <a:srgbClr val="3A473F"/>
          </a:solidFill>
          <a:ln/>
        </p:spPr>
      </p:sp>
      <p:sp>
        <p:nvSpPr>
          <p:cNvPr id="16" name="Text 14"/>
          <p:cNvSpPr/>
          <p:nvPr/>
        </p:nvSpPr>
        <p:spPr>
          <a:xfrm>
            <a:off x="5123101" y="5336381"/>
            <a:ext cx="54692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Своя формулировка дескрипторов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0864453" y="5012531"/>
            <a:ext cx="400050" cy="958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8FB7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1378803" y="5012531"/>
            <a:ext cx="5683052" cy="920750"/>
          </a:xfrm>
          <a:prstGeom prst="rect">
            <a:avLst/>
          </a:prstGeom>
          <a:solidFill>
            <a:srgbClr val="1B2A22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78803" y="5926931"/>
            <a:ext cx="5683052" cy="9525"/>
          </a:xfrm>
          <a:prstGeom prst="rect">
            <a:avLst/>
          </a:prstGeom>
          <a:solidFill>
            <a:srgbClr val="3A473F"/>
          </a:solidFill>
          <a:ln/>
        </p:spPr>
      </p:sp>
      <p:sp>
        <p:nvSpPr>
          <p:cNvPr id="20" name="Shape 18"/>
          <p:cNvSpPr/>
          <p:nvPr/>
        </p:nvSpPr>
        <p:spPr>
          <a:xfrm>
            <a:off x="11378803" y="5012531"/>
            <a:ext cx="5683052" cy="76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21" name="Shape 19"/>
          <p:cNvSpPr/>
          <p:nvPr/>
        </p:nvSpPr>
        <p:spPr>
          <a:xfrm>
            <a:off x="11378803" y="5012531"/>
            <a:ext cx="9525" cy="920750"/>
          </a:xfrm>
          <a:prstGeom prst="rect">
            <a:avLst/>
          </a:prstGeom>
          <a:solidFill>
            <a:srgbClr val="3A473F"/>
          </a:solidFill>
          <a:ln/>
        </p:spPr>
      </p:sp>
      <p:sp>
        <p:nvSpPr>
          <p:cNvPr id="22" name="Shape 20"/>
          <p:cNvSpPr/>
          <p:nvPr/>
        </p:nvSpPr>
        <p:spPr>
          <a:xfrm>
            <a:off x="17055505" y="5012531"/>
            <a:ext cx="9525" cy="920750"/>
          </a:xfrm>
          <a:prstGeom prst="rect">
            <a:avLst/>
          </a:prstGeom>
          <a:solidFill>
            <a:srgbClr val="3A473F"/>
          </a:solidFill>
          <a:ln/>
        </p:spPr>
      </p:sp>
      <p:sp>
        <p:nvSpPr>
          <p:cNvPr id="23" name="Text 21"/>
          <p:cNvSpPr/>
          <p:nvPr/>
        </p:nvSpPr>
        <p:spPr>
          <a:xfrm>
            <a:off x="11457871" y="5336381"/>
            <a:ext cx="552491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Шаблон черновика обратной связи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7671098" y="6161881"/>
            <a:ext cx="32403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FB7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структуре из слайда 6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2026-08-27T20:40:45Z</dcterms:created>
  <dcterms:modified xsi:type="dcterms:W3CDTF">2026-08-27T20:40:45Z</dcterms:modified>
</cp:coreProperties>
</file>